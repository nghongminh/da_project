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Việt Nam chiếm 65,90% sản lượng điện gió và mặt trời của mười nước ASEAN năm 2021. Báo cáo xem xét quy mô, cơ cấu và mức tập trung của điện tái tạo, đồng thời so sánh Việt Nam với khu vực và thế giới. Nguồn là Our World in Data, tổng hợp từ Ember và BP, công ty năng lượng trước đây mang tên British Petroleum.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đầu xác định câu hỏi và kiểm tra chất lượng nguồn để người đọc hiểu phạm vi của các con số. Phần tiếp theo so sánh quy mô, cơ cấu, thứ hạng và mức tập trung. Phần cuối phân biệt các cải thiện có thể áp dụng ngay trong báo cáo với những quyết định còn cần dữ liệu bổ sung.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Sáu câu hỏi đi từ bối cảnh khu vực đến từng quốc gia. Khi so sánh, báo cáo ghi rõ chỉ tiêu, thời gian và tập quốc gia để tránh nhầm thay đổi thứ hạng do chuyển chỉ tiêu với thay đổi qua thời gian.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chuỗi sản lượng cho phép mô tả mức độ và xu hướng thay đổi. Chúng chưa đủ để xác định tác động của chính sách hoặc lựa chọn công nghệ theo chi phí. Có 104 quan sát nước–năm–công nghệ với đủ sản lượng và công suất để tính hệ số sử dụng công suất xấp xỉ; cùng một nước và năm có thể có hai công nghệ. Công suất ghi tại cuối năm nên chỉ số này không đo trực tiếp hiệu quả kỹ thuật.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tệp có phạm vi quốc gia và thời gian khác nhau. Nếu chỉ giữ các thực thể xuất hiện trong mọi tệp, tỷ lệ còn lại là 3,125%. Ba tệp về thủy điện, gió và mặt trời trùng một phần nguồn sản lượng theo công nghệ nên không được nạp lại. Tám tệp có dữ liệu năm 2022 thiếu nghiêm trọng và không có quan sát ASEAN trong năm này. Tại năm 2000, số thực thể ghi nhận tăng từ 106 lên 247; vì vậy cần xác định rõ tập quốc gia được dùng làm mẫu số.</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sau làm sạch có 89.075 bản ghi, mỗi bản ghi gắn một thực thể, một năm và một chỉ số. Quy trình lưu 864 kết quả thuộc tám nhóm kiểm tra. Không có lỗi thuộc nhóm bắt buộc xử lý sau làm sạch; điều này không có nghĩa mọi phép đối chiếu đều bằng nhau. Tổng quốc gia được so với tổng thế giới theo dung sai. Chênh lệch ngoài dung sai được giữ để xem xét độ phủ, cách tổng hợp và làm tròn. Giá trị 0 cho biết nguồn ghi nhận bằng 0, chưa đủ để khẳng định sản lượng thực tế tuyệt đối bằng 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Điện mặt trời của mười nước ASEAN năm 2021 có trung bình 3,443 TWh và trung vị 0,520 TWh. Một số nước có sản lượng lớn làm trung bình cao hơn trung vị. Bảng giữ ba tập quan sát để thể hiện ảnh hưởng của việc loại số 0 và giá trị nhỏ. Ngưỡng phân loại sản lượng là từ 0,05 TWh trở lên, bao gồm đúng giá trị tại ngưỡng. Biểu đồ dùng cùng mười nước và năm với bảng. Trung vị và phân vị bổ sung thông tin về phân phối; trung bình vẫn hữu ích khi cần liên hệ với tổng sản lượng.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Sản lượng ASEAN tăng từ 72,8 lên 289,7 TWh, gấp 3,98 lần. Thế giới cũng tăng trong giai đoạn này, nên tỷ trọng ASEAN tăng từ 2,55% lên 3,67%. Cần đọc đồng thời quy mô tuyệt đối và tỷ trọng; tỷ trọng có tăng, nhưng vẫn dưới 4% năm 2021.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Nguồn ghi nhận sản lượng gió và mặt trời của ASEAN bằng 0 năm 2000, 0,13 TWh năm 2010 và 42,73 TWh năm 2021. Tỷ lệ tăng trưởng từ năm 2000 không xác định vì mẫu số bằng 0. Năm 2021, thủy điện chiếm 64,07% tổng điện tái tạo; gió và mặt trời chiếm 14,75%. Các con số mô tả cơ cấu sản lượng ghi nhận.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 bảng xếp hạng cùng dùng mười nước và năm 2021. Một bảng đo tổng điện tái tạo, bảng kia đo riêng gió và mặt trời. Singapore tăng bốn bậc, Lào giảm năm bậc; Việt Nam đứng đầu theo cả hai chỉ tiêu. Thay đổi này phản ánh sự khác nhau về cơ cấu sản lượng. Nó không phải thay đổi thứ hạng qua thời gian.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Việt Nam chiếm 65,90% sản lượng điện gió và mặt trời ASEAN năm 2021. Nếu xét tổng mức tăng dương từ 2010 đến 2021, đóng góp là 65,99%. Mẫu số của chỉ tiêu sau là tổng phần tăng của từng nước có sản lượng tăng; phần giảm của nước khác không được trừ vào mẫu số. Vì vậy đây không phải tỷ trọng trong thay đổi ròng toàn khu vực. Các nước còn lại đóng góp khoảng một phần ba mức tăng dương. Dữ liệu hiện có chưa đủ để xác định nguyên nhân của sự tập trung này.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chỉ số được tính trên cùng mười nước năm 2021. Tỷ trọng nhóm dẫn đầu, tổng bình phương tỷ trọng và hệ số Gini mô tả các khía cạnh khác nhau của cùng một phân bố. Chúng đều cao hơn khi xét gió và mặt trời. Đây là mức tập trung sản lượng tại một năm; đóng góp vào tăng trưởng là phép đo khác, được thể hiện riêng trong hình. Không áp dụng ngưỡng của thị trường cạnh tranh để kết luận rủi ro vận hành hệ thống điện.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Sơ đồ giới thiệu ba trang của bảng điều khiển Power BI, công cụ trực quan hóa dữ liệu tương tác. Trang tổng quan đặt kết quả trong bối cảnh khu vực; trang Việt Nam xem chi tiết theo công nghệ; trang so sánh giúp đối chiếu các nước. Khi sử dụng, cần ghi nhận năm, phạm vi và chỉ tiêu trước khi diễn giải một con số hoặc thứ hạng.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kết quả cho thấy quy mô điện tái tạo tăng và tỷ trọng ASEAN trong thế giới cũng tăng. Tuy nhiên, thủy điện vẫn chiếm phần lớn sản lượng tái tạo năm 2021. Điện gió và mặt trời tập trung ở ít nước; Việt Nam chiếm khoảng hai phần ba sản lượng năm 2021 và tổng mức tăng dương giai đoạn 2010–2021. Những nhận xét này mô tả số liệu, chưa xác định tác động chính sách.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cải thiện báo cáo có thể thực hiện bằng dữ liệu hiện có: công bố nhiều chỉ tiêu bổ sung nhau và ghi rõ mẫu số, phạm vi, thời gian. Với Việt Nam và khu vực ASEAN, quyết định về lưu trữ, công nghệ hoặc hợp tác cần thêm dữ liệu vận hành, chi phí và truyền tải. Mức tập trung sản lượng là cơ sở đặt câu hỏi nghiên cứu, chưa đủ để chọn một phương án đầu tư.</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Dữ liệu bổ sung cần ghép theo quốc gia, năm và công nghệ khi có thể. Chuỗi theo giờ cần thiết cho nghiên cứu vận hành; thông tin chi phí hỗ trợ so sánh phương án; mốc chính sách giúp thiết kế phân tích tác động phù hợp. Có thêm dữ liệu không tự đảm bảo kết luận nhân quả: phương pháp phân tích còn phải xét các yếu tố cùng thay đổi.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Báo cáo sử dụng dữ liệu giai đoạn 2000–2021. Năm 2022 bị loại khỏi phân tích vì dữ liệu cuối kỳ thiếu nghiêm trọng tại các nguồn có năm này. Các so sánh cần được đọc cùng phạm vi, chỉ tiêu và giới hạn nguồn đã trình bày.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658368"/>
            <a:ext cx="10972800" cy="320040"/>
          </a:xfrm>
          <a:prstGeom prst="rect">
            <a:avLst/>
          </a:prstGeom>
          <a:noFill/>
        </p:spPr>
        <p:txBody>
          <a:bodyPr wrap="none" lIns="50800" rIns="50800" tIns="25400" bIns="25400">
            <a:spAutoFit/>
          </a:bodyPr>
          <a:lstStyle/>
          <a:p>
            <a:pPr algn="l">
              <a:lnSpc>
                <a:spcPts val="1612"/>
              </a:lnSpc>
              <a:spcBef>
                <a:spcPts val="0"/>
              </a:spcBef>
              <a:spcAft>
                <a:spcPts val="0"/>
              </a:spcAft>
            </a:pPr>
            <a:r>
              <a:rPr sz="1300" b="1">
                <a:solidFill>
                  <a:srgbClr val="D55E00"/>
                </a:solidFill>
                <a:latin typeface="Segoe UI"/>
              </a:rPr>
              <a:t>ĐỒ ÁN PHÂN TÍCH DỮ LIỆU</a:t>
            </a:r>
          </a:p>
        </p:txBody>
      </p:sp>
      <p:sp>
        <p:nvSpPr>
          <p:cNvPr id="3" name="TextBox 2"/>
          <p:cNvSpPr txBox="1"/>
          <p:nvPr/>
        </p:nvSpPr>
        <p:spPr>
          <a:xfrm>
            <a:off x="566928" y="1261872"/>
            <a:ext cx="10972800" cy="1353312"/>
          </a:xfrm>
          <a:prstGeom prst="rect">
            <a:avLst/>
          </a:prstGeom>
          <a:noFill/>
        </p:spPr>
        <p:txBody>
          <a:bodyPr wrap="none" lIns="50800" rIns="50800" tIns="25400" bIns="25400">
            <a:spAutoFit/>
          </a:bodyPr>
          <a:lstStyle/>
          <a:p>
            <a:pPr algn="l">
              <a:lnSpc>
                <a:spcPts val="4588"/>
              </a:lnSpc>
              <a:spcBef>
                <a:spcPts val="0"/>
              </a:spcBef>
              <a:spcAft>
                <a:spcPts val="0"/>
              </a:spcAft>
            </a:pPr>
            <a:r>
              <a:rPr sz="3700" b="1">
                <a:solidFill>
                  <a:srgbClr val="374151"/>
                </a:solidFill>
                <a:latin typeface="Segoe UI"/>
              </a:rPr>
              <a:t>Điện tái tạo tại Đông Nam Á:</a:t>
            </a:r>
          </a:p>
          <a:p>
            <a:pPr algn="l">
              <a:lnSpc>
                <a:spcPts val="4588"/>
              </a:lnSpc>
              <a:spcBef>
                <a:spcPts val="0"/>
              </a:spcBef>
              <a:spcAft>
                <a:spcPts val="0"/>
              </a:spcAft>
            </a:pPr>
            <a:r>
              <a:rPr sz="3700" b="1">
                <a:solidFill>
                  <a:srgbClr val="374151"/>
                </a:solidFill>
                <a:latin typeface="Segoe UI"/>
              </a:rPr>
              <a:t>Quy mô, cơ cấu và vị trí của Việt Nam</a:t>
            </a:r>
          </a:p>
        </p:txBody>
      </p:sp>
      <p:sp>
        <p:nvSpPr>
          <p:cNvPr id="4" name="Rectangle 3"/>
          <p:cNvSpPr/>
          <p:nvPr/>
        </p:nvSpPr>
        <p:spPr>
          <a:xfrm>
            <a:off x="566928" y="2834640"/>
            <a:ext cx="2926080" cy="32004"/>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3337560"/>
            <a:ext cx="6720840" cy="1143000"/>
          </a:xfrm>
          <a:prstGeom prst="rect">
            <a:avLst/>
          </a:prstGeom>
          <a:noFill/>
        </p:spPr>
        <p:txBody>
          <a:bodyPr wrap="none" lIns="50800" rIns="50800" tIns="25400" bIns="25400">
            <a:spAutoFit/>
          </a:bodyPr>
          <a:lstStyle/>
          <a:p>
            <a:pPr algn="l">
              <a:lnSpc>
                <a:spcPts val="2728"/>
              </a:lnSpc>
              <a:spcBef>
                <a:spcPts val="0"/>
              </a:spcBef>
              <a:spcAft>
                <a:spcPts val="0"/>
              </a:spcAft>
            </a:pPr>
            <a:r>
              <a:rPr sz="2200" b="0">
                <a:solidFill>
                  <a:srgbClr val="374151"/>
                </a:solidFill>
                <a:latin typeface="Segoe UI"/>
              </a:rPr>
              <a:t>Khảo sát sản lượng điện tái tạo của mười nước</a:t>
            </a:r>
          </a:p>
          <a:p>
            <a:pPr algn="l">
              <a:lnSpc>
                <a:spcPts val="2728"/>
              </a:lnSpc>
              <a:spcBef>
                <a:spcPts val="0"/>
              </a:spcBef>
              <a:spcAft>
                <a:spcPts val="0"/>
              </a:spcAft>
            </a:pPr>
            <a:r>
              <a:rPr sz="2200" b="0">
                <a:solidFill>
                  <a:srgbClr val="374151"/>
                </a:solidFill>
                <a:latin typeface="Segoe UI"/>
              </a:rPr>
              <a:t>ASEAN giai đoạn 2000–2021, đặt trong tương quan</a:t>
            </a:r>
          </a:p>
          <a:p>
            <a:pPr algn="l">
              <a:lnSpc>
                <a:spcPts val="2728"/>
              </a:lnSpc>
              <a:spcBef>
                <a:spcPts val="0"/>
              </a:spcBef>
              <a:spcAft>
                <a:spcPts val="0"/>
              </a:spcAft>
            </a:pPr>
            <a:r>
              <a:rPr sz="2200" b="0">
                <a:solidFill>
                  <a:srgbClr val="374151"/>
                </a:solidFill>
                <a:latin typeface="Segoe UI"/>
              </a:rPr>
              <a:t>với thế giới.</a:t>
            </a:r>
          </a:p>
        </p:txBody>
      </p:sp>
      <p:sp>
        <p:nvSpPr>
          <p:cNvPr id="6" name="TextBox 5"/>
          <p:cNvSpPr txBox="1"/>
          <p:nvPr/>
        </p:nvSpPr>
        <p:spPr>
          <a:xfrm>
            <a:off x="7589520" y="3310128"/>
            <a:ext cx="3931920" cy="1024128"/>
          </a:xfrm>
          <a:prstGeom prst="rect">
            <a:avLst/>
          </a:prstGeom>
          <a:noFill/>
        </p:spPr>
        <p:txBody>
          <a:bodyPr wrap="none" lIns="50800" rIns="50800" tIns="25400" bIns="25400">
            <a:spAutoFit/>
          </a:bodyPr>
          <a:lstStyle/>
          <a:p>
            <a:pPr algn="ctr">
              <a:lnSpc>
                <a:spcPts val="7564"/>
              </a:lnSpc>
              <a:spcBef>
                <a:spcPts val="0"/>
              </a:spcBef>
              <a:spcAft>
                <a:spcPts val="0"/>
              </a:spcAft>
            </a:pPr>
            <a:r>
              <a:rPr sz="6100" b="1">
                <a:solidFill>
                  <a:srgbClr val="D55E00"/>
                </a:solidFill>
                <a:latin typeface="Segoe UI"/>
              </a:rPr>
              <a:t>65,90%</a:t>
            </a:r>
          </a:p>
        </p:txBody>
      </p:sp>
      <p:sp>
        <p:nvSpPr>
          <p:cNvPr id="7" name="TextBox 6"/>
          <p:cNvSpPr txBox="1"/>
          <p:nvPr/>
        </p:nvSpPr>
        <p:spPr>
          <a:xfrm>
            <a:off x="7589520" y="4453128"/>
            <a:ext cx="3931920" cy="822960"/>
          </a:xfrm>
          <a:prstGeom prst="rect">
            <a:avLst/>
          </a:prstGeom>
          <a:noFill/>
        </p:spPr>
        <p:txBody>
          <a:bodyPr wrap="none" lIns="50800" rIns="50800" tIns="25400" bIns="25400">
            <a:spAutoFit/>
          </a:bodyPr>
          <a:lstStyle/>
          <a:p>
            <a:pPr algn="ctr">
              <a:lnSpc>
                <a:spcPts val="1860"/>
              </a:lnSpc>
              <a:spcBef>
                <a:spcPts val="0"/>
              </a:spcBef>
              <a:spcAft>
                <a:spcPts val="0"/>
              </a:spcAft>
            </a:pPr>
            <a:r>
              <a:rPr sz="1500" b="0">
                <a:solidFill>
                  <a:srgbClr val="6B7280"/>
                </a:solidFill>
                <a:latin typeface="Segoe UI"/>
              </a:rPr>
              <a:t>Tỷ trọng Việt Nam trong sản lượng điện gió</a:t>
            </a:r>
          </a:p>
          <a:p>
            <a:pPr algn="ctr">
              <a:lnSpc>
                <a:spcPts val="1860"/>
              </a:lnSpc>
              <a:spcBef>
                <a:spcPts val="0"/>
              </a:spcBef>
              <a:spcAft>
                <a:spcPts val="0"/>
              </a:spcAft>
            </a:pPr>
            <a:r>
              <a:rPr sz="1500" b="0">
                <a:solidFill>
                  <a:srgbClr val="6B7280"/>
                </a:solidFill>
                <a:latin typeface="Segoe UI"/>
              </a:rPr>
              <a:t>và mặt trời của khu vực năm 2021</a:t>
            </a:r>
          </a:p>
        </p:txBody>
      </p:sp>
      <p:sp>
        <p:nvSpPr>
          <p:cNvPr id="8" name="TextBox 7"/>
          <p:cNvSpPr txBox="1"/>
          <p:nvPr/>
        </p:nvSpPr>
        <p:spPr>
          <a:xfrm>
            <a:off x="566928" y="5468112"/>
            <a:ext cx="10972800" cy="758952"/>
          </a:xfrm>
          <a:prstGeom prst="rect">
            <a:avLst/>
          </a:prstGeom>
          <a:noFill/>
        </p:spPr>
        <p:txBody>
          <a:bodyPr wrap="none" lIns="50800" rIns="50800" tIns="25400" bIns="25400">
            <a:spAutoFit/>
          </a:bodyPr>
          <a:lstStyle/>
          <a:p>
            <a:pPr algn="l">
              <a:lnSpc>
                <a:spcPts val="1612"/>
              </a:lnSpc>
              <a:spcBef>
                <a:spcPts val="0"/>
              </a:spcBef>
              <a:spcAft>
                <a:spcPts val="0"/>
              </a:spcAft>
            </a:pPr>
            <a:r>
              <a:rPr sz="1300" b="0">
                <a:solidFill>
                  <a:srgbClr val="6B7280"/>
                </a:solidFill>
                <a:latin typeface="Segoe UI"/>
              </a:rPr>
              <a:t>ASEAN: Hiệp hội các quốc gia Đông Nam Á; phạm vi gồm mười nước trong giai đoạn nghiên cứu.</a:t>
            </a:r>
          </a:p>
          <a:p>
            <a:pPr algn="l">
              <a:lnSpc>
                <a:spcPts val="1612"/>
              </a:lnSpc>
              <a:spcBef>
                <a:spcPts val="0"/>
              </a:spcBef>
              <a:spcAft>
                <a:spcPts val="0"/>
              </a:spcAft>
            </a:pPr>
            <a:r>
              <a:rPr sz="1300" b="0">
                <a:solidFill>
                  <a:srgbClr val="6B7280"/>
                </a:solidFill>
                <a:latin typeface="Segoe UI"/>
              </a:rPr>
              <a:t>TWh: terawatt giờ, tương đương một tỷ kilôoát giờ.</a:t>
            </a:r>
          </a:p>
        </p:txBody>
      </p:sp>
      <p:sp>
        <p:nvSpPr>
          <p:cNvPr id="9" name="TextBox 8"/>
          <p:cNvSpPr txBox="1"/>
          <p:nvPr/>
        </p:nvSpPr>
        <p:spPr>
          <a:xfrm>
            <a:off x="566928" y="6446520"/>
            <a:ext cx="10469880" cy="219456"/>
          </a:xfrm>
          <a:prstGeom prst="rect">
            <a:avLst/>
          </a:prstGeom>
          <a:noFill/>
        </p:spPr>
        <p:txBody>
          <a:bodyPr wrap="none" lIns="50800" rIns="50800" tIns="25400" bIns="25400">
            <a:spAutoFit/>
          </a:bodyPr>
          <a:lstStyle/>
          <a:p>
            <a:pPr algn="l">
              <a:lnSpc>
                <a:spcPts val="1178"/>
              </a:lnSpc>
              <a:spcBef>
                <a:spcPts val="0"/>
              </a:spcBef>
              <a:spcAft>
                <a:spcPts val="0"/>
              </a:spcAft>
            </a:pPr>
            <a:r>
              <a:rPr sz="950" b="0">
                <a:solidFill>
                  <a:srgbClr val="6B7280"/>
                </a:solidFill>
                <a:latin typeface="Segoe UI"/>
              </a:rPr>
              <a:t>Nguồn: Our World in Data, tổng hợp từ Ember và BP · 10 nước ASEAN · 2000–2021</a:t>
            </a:r>
          </a:p>
        </p:txBody>
      </p:sp>
      <p:sp>
        <p:nvSpPr>
          <p:cNvPr id="10" name="TextBox 9"/>
          <p:cNvSpPr txBox="1"/>
          <p:nvPr/>
        </p:nvSpPr>
        <p:spPr>
          <a:xfrm>
            <a:off x="11109960" y="6446520"/>
            <a:ext cx="457200" cy="219456"/>
          </a:xfrm>
          <a:prstGeom prst="rect">
            <a:avLst/>
          </a:prstGeom>
          <a:noFill/>
        </p:spPr>
        <p:txBody>
          <a:bodyPr wrap="none" lIns="50800" rIns="50800" tIns="25400" bIns="25400">
            <a:spAutoFit/>
          </a:bodyPr>
          <a:lstStyle/>
          <a:p>
            <a:pPr algn="r">
              <a:lnSpc>
                <a:spcPts val="1178"/>
              </a:lnSpc>
              <a:spcBef>
                <a:spcPts val="0"/>
              </a:spcBef>
              <a:spcAft>
                <a:spcPts val="0"/>
              </a:spcAft>
            </a:pPr>
            <a:r>
              <a:rPr sz="950" b="0">
                <a:solidFill>
                  <a:srgbClr val="6B7280"/>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0040"/>
            <a:ext cx="11055096" cy="274320"/>
          </a:xfrm>
          <a:prstGeom prst="rect">
            <a:avLst/>
          </a:prstGeom>
          <a:noFill/>
        </p:spPr>
        <p:txBody>
          <a:bodyPr wrap="none" lIns="50800" rIns="50800" tIns="25400" bIns="25400">
            <a:spAutoFit/>
          </a:bodyPr>
          <a:lstStyle/>
          <a:p>
            <a:pPr algn="l">
              <a:lnSpc>
                <a:spcPts val="1488"/>
              </a:lnSpc>
              <a:spcBef>
                <a:spcPts val="0"/>
              </a:spcBef>
              <a:spcAft>
                <a:spcPts val="0"/>
              </a:spcAft>
            </a:pPr>
            <a:r>
              <a:rPr sz="1200" b="1">
                <a:solidFill>
                  <a:srgbClr val="D55E00"/>
                </a:solidFill>
                <a:latin typeface="Segoe UI"/>
              </a:rPr>
              <a:t>NỘI DUNG</a:t>
            </a:r>
          </a:p>
        </p:txBody>
      </p:sp>
      <p:sp>
        <p:nvSpPr>
          <p:cNvPr id="3" name="TextBox 2"/>
          <p:cNvSpPr txBox="1"/>
          <p:nvPr/>
        </p:nvSpPr>
        <p:spPr>
          <a:xfrm>
            <a:off x="566928" y="713232"/>
            <a:ext cx="11055096" cy="859536"/>
          </a:xfrm>
          <a:prstGeom prst="rect">
            <a:avLst/>
          </a:prstGeom>
          <a:noFill/>
        </p:spPr>
        <p:txBody>
          <a:bodyPr wrap="none" lIns="50800" rIns="50800" tIns="25400" bIns="25400">
            <a:spAutoFit/>
          </a:bodyPr>
          <a:lstStyle/>
          <a:p>
            <a:pPr algn="l">
              <a:lnSpc>
                <a:spcPts val="3720"/>
              </a:lnSpc>
              <a:spcBef>
                <a:spcPts val="0"/>
              </a:spcBef>
              <a:spcAft>
                <a:spcPts val="0"/>
              </a:spcAft>
            </a:pPr>
            <a:r>
              <a:rPr sz="3000" b="1">
                <a:solidFill>
                  <a:srgbClr val="374151"/>
                </a:solidFill>
                <a:latin typeface="Segoe UI"/>
              </a:rPr>
              <a:t>Từ chất lượng dữ liệu đến kết quả phân tích</a:t>
            </a:r>
          </a:p>
        </p:txBody>
      </p:sp>
      <p:sp>
        <p:nvSpPr>
          <p:cNvPr id="4" name="Rectangle 3"/>
          <p:cNvSpPr/>
          <p:nvPr/>
        </p:nvSpPr>
        <p:spPr>
          <a:xfrm>
            <a:off x="566928" y="1636776"/>
            <a:ext cx="11055096" cy="16459"/>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65960"/>
            <a:ext cx="5184648" cy="640080"/>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Câu hỏi và người sử dụng kết quả</a:t>
            </a:r>
          </a:p>
        </p:txBody>
      </p:sp>
      <p:sp>
        <p:nvSpPr>
          <p:cNvPr id="6" name="TextBox 5"/>
          <p:cNvSpPr txBox="1"/>
          <p:nvPr/>
        </p:nvSpPr>
        <p:spPr>
          <a:xfrm>
            <a:off x="685800" y="2660904"/>
            <a:ext cx="5184648" cy="640080"/>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Dữ liệu, phạm vi và giới hạn</a:t>
            </a:r>
          </a:p>
        </p:txBody>
      </p:sp>
      <p:sp>
        <p:nvSpPr>
          <p:cNvPr id="7" name="TextBox 6"/>
          <p:cNvSpPr txBox="1"/>
          <p:nvPr/>
        </p:nvSpPr>
        <p:spPr>
          <a:xfrm>
            <a:off x="685800" y="3355848"/>
            <a:ext cx="5184648" cy="640080"/>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Rủi ro dữ liệu và cách xử lý</a:t>
            </a:r>
          </a:p>
        </p:txBody>
      </p:sp>
      <p:sp>
        <p:nvSpPr>
          <p:cNvPr id="8" name="TextBox 7"/>
          <p:cNvSpPr txBox="1"/>
          <p:nvPr/>
        </p:nvSpPr>
        <p:spPr>
          <a:xfrm>
            <a:off x="685800" y="4050791"/>
            <a:ext cx="5184648" cy="640080"/>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Đối chiếu sau làm sạch</a:t>
            </a:r>
          </a:p>
        </p:txBody>
      </p:sp>
      <p:sp>
        <p:nvSpPr>
          <p:cNvPr id="9" name="TextBox 8"/>
          <p:cNvSpPr txBox="1"/>
          <p:nvPr/>
        </p:nvSpPr>
        <p:spPr>
          <a:xfrm>
            <a:off x="685800" y="4745736"/>
            <a:ext cx="5184648" cy="640080"/>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Thống kê mô tả</a:t>
            </a:r>
          </a:p>
        </p:txBody>
      </p:sp>
      <p:sp>
        <p:nvSpPr>
          <p:cNvPr id="10" name="TextBox 9"/>
          <p:cNvSpPr txBox="1"/>
          <p:nvPr/>
        </p:nvSpPr>
        <p:spPr>
          <a:xfrm>
            <a:off x="6327648" y="1965960"/>
            <a:ext cx="5184648" cy="640080"/>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Quy mô, cơ cấu và thứ hạng</a:t>
            </a:r>
          </a:p>
        </p:txBody>
      </p:sp>
      <p:sp>
        <p:nvSpPr>
          <p:cNvPr id="11" name="TextBox 10"/>
          <p:cNvSpPr txBox="1"/>
          <p:nvPr/>
        </p:nvSpPr>
        <p:spPr>
          <a:xfrm>
            <a:off x="6327648" y="2660904"/>
            <a:ext cx="5184648" cy="640080"/>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Vị trí Việt Nam và mức tập trung</a:t>
            </a:r>
          </a:p>
        </p:txBody>
      </p:sp>
      <p:sp>
        <p:nvSpPr>
          <p:cNvPr id="12" name="TextBox 11"/>
          <p:cNvSpPr txBox="1"/>
          <p:nvPr/>
        </p:nvSpPr>
        <p:spPr>
          <a:xfrm>
            <a:off x="6327648" y="3355848"/>
            <a:ext cx="5184648" cy="640080"/>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Bảng điều khiển tương tác</a:t>
            </a:r>
          </a:p>
        </p:txBody>
      </p:sp>
      <p:sp>
        <p:nvSpPr>
          <p:cNvPr id="13" name="TextBox 12"/>
          <p:cNvSpPr txBox="1"/>
          <p:nvPr/>
        </p:nvSpPr>
        <p:spPr>
          <a:xfrm>
            <a:off x="6327648" y="4050791"/>
            <a:ext cx="5184648" cy="640080"/>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Kết luận và đề xuất</a:t>
            </a:r>
          </a:p>
        </p:txBody>
      </p:sp>
      <p:sp>
        <p:nvSpPr>
          <p:cNvPr id="14" name="TextBox 13"/>
          <p:cNvSpPr txBox="1"/>
          <p:nvPr/>
        </p:nvSpPr>
        <p:spPr>
          <a:xfrm>
            <a:off x="6327648" y="4745736"/>
            <a:ext cx="5184648" cy="640080"/>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Dữ liệu cần bổ sung</a:t>
            </a:r>
          </a:p>
        </p:txBody>
      </p:sp>
      <p:sp>
        <p:nvSpPr>
          <p:cNvPr id="15" name="TextBox 14"/>
          <p:cNvSpPr txBox="1"/>
          <p:nvPr/>
        </p:nvSpPr>
        <p:spPr>
          <a:xfrm>
            <a:off x="566928" y="6446520"/>
            <a:ext cx="10469880" cy="219456"/>
          </a:xfrm>
          <a:prstGeom prst="rect">
            <a:avLst/>
          </a:prstGeom>
          <a:noFill/>
        </p:spPr>
        <p:txBody>
          <a:bodyPr wrap="none" lIns="50800" rIns="50800" tIns="25400" bIns="25400">
            <a:spAutoFit/>
          </a:bodyPr>
          <a:lstStyle/>
          <a:p>
            <a:pPr algn="l">
              <a:lnSpc>
                <a:spcPts val="1178"/>
              </a:lnSpc>
              <a:spcBef>
                <a:spcPts val="0"/>
              </a:spcBef>
              <a:spcAft>
                <a:spcPts val="0"/>
              </a:spcAft>
            </a:pPr>
            <a:r>
              <a:rPr sz="950" b="0">
                <a:solidFill>
                  <a:srgbClr val="6B7280"/>
                </a:solidFill>
                <a:latin typeface="Segoe UI"/>
              </a:rPr>
              <a:t>Nguồn: Our World in Data, tổng hợp từ Ember và BP · 10 nước ASEAN · 2000–2021</a:t>
            </a:r>
          </a:p>
        </p:txBody>
      </p:sp>
      <p:sp>
        <p:nvSpPr>
          <p:cNvPr id="16" name="TextBox 15"/>
          <p:cNvSpPr txBox="1"/>
          <p:nvPr/>
        </p:nvSpPr>
        <p:spPr>
          <a:xfrm>
            <a:off x="11109960" y="6446520"/>
            <a:ext cx="457200" cy="219456"/>
          </a:xfrm>
          <a:prstGeom prst="rect">
            <a:avLst/>
          </a:prstGeom>
          <a:noFill/>
        </p:spPr>
        <p:txBody>
          <a:bodyPr wrap="none" lIns="50800" rIns="50800" tIns="25400" bIns="25400">
            <a:spAutoFit/>
          </a:bodyPr>
          <a:lstStyle/>
          <a:p>
            <a:pPr algn="r">
              <a:lnSpc>
                <a:spcPts val="1178"/>
              </a:lnSpc>
              <a:spcBef>
                <a:spcPts val="0"/>
              </a:spcBef>
              <a:spcAft>
                <a:spcPts val="0"/>
              </a:spcAft>
            </a:pPr>
            <a:r>
              <a:rPr sz="950" b="0">
                <a:solidFill>
                  <a:srgbClr val="6B7280"/>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0040"/>
            <a:ext cx="11055096" cy="274320"/>
          </a:xfrm>
          <a:prstGeom prst="rect">
            <a:avLst/>
          </a:prstGeom>
          <a:noFill/>
        </p:spPr>
        <p:txBody>
          <a:bodyPr wrap="none" lIns="50800" rIns="50800" tIns="25400" bIns="25400">
            <a:spAutoFit/>
          </a:bodyPr>
          <a:lstStyle/>
          <a:p>
            <a:pPr algn="l">
              <a:lnSpc>
                <a:spcPts val="1488"/>
              </a:lnSpc>
              <a:spcBef>
                <a:spcPts val="0"/>
              </a:spcBef>
              <a:spcAft>
                <a:spcPts val="0"/>
              </a:spcAft>
            </a:pPr>
            <a:r>
              <a:rPr sz="1200" b="1">
                <a:solidFill>
                  <a:srgbClr val="D55E00"/>
                </a:solidFill>
                <a:latin typeface="Segoe UI"/>
              </a:rPr>
              <a:t>CÂU HỎI PHÂN TÍCH</a:t>
            </a:r>
          </a:p>
        </p:txBody>
      </p:sp>
      <p:sp>
        <p:nvSpPr>
          <p:cNvPr id="3" name="TextBox 2"/>
          <p:cNvSpPr txBox="1"/>
          <p:nvPr/>
        </p:nvSpPr>
        <p:spPr>
          <a:xfrm>
            <a:off x="566928" y="713232"/>
            <a:ext cx="11055096" cy="859536"/>
          </a:xfrm>
          <a:prstGeom prst="rect">
            <a:avLst/>
          </a:prstGeom>
          <a:noFill/>
        </p:spPr>
        <p:txBody>
          <a:bodyPr wrap="none" lIns="50800" rIns="50800" tIns="25400" bIns="25400">
            <a:spAutoFit/>
          </a:bodyPr>
          <a:lstStyle/>
          <a:p>
            <a:pPr algn="l">
              <a:lnSpc>
                <a:spcPts val="3720"/>
              </a:lnSpc>
              <a:spcBef>
                <a:spcPts val="0"/>
              </a:spcBef>
              <a:spcAft>
                <a:spcPts val="0"/>
              </a:spcAft>
            </a:pPr>
            <a:r>
              <a:rPr sz="3000" b="1">
                <a:solidFill>
                  <a:srgbClr val="374151"/>
                </a:solidFill>
                <a:latin typeface="Segoe UI"/>
              </a:rPr>
              <a:t>Một câu hỏi trung tâm, sáu góc nhìn</a:t>
            </a:r>
          </a:p>
        </p:txBody>
      </p:sp>
      <p:sp>
        <p:nvSpPr>
          <p:cNvPr id="4" name="Rectangle 3"/>
          <p:cNvSpPr/>
          <p:nvPr/>
        </p:nvSpPr>
        <p:spPr>
          <a:xfrm>
            <a:off x="566928" y="1636776"/>
            <a:ext cx="11055096" cy="16459"/>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883664"/>
            <a:ext cx="10881360" cy="448056"/>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ASEAN thay đổi thế nào về sản lượng và tỷ trọng thế giới?</a:t>
            </a:r>
          </a:p>
        </p:txBody>
      </p:sp>
      <p:sp>
        <p:nvSpPr>
          <p:cNvPr id="6" name="TextBox 5"/>
          <p:cNvSpPr txBox="1"/>
          <p:nvPr/>
        </p:nvSpPr>
        <p:spPr>
          <a:xfrm>
            <a:off x="658368" y="2386584"/>
            <a:ext cx="10881360" cy="448056"/>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Cơ cấu điện tái tạo thay đổi giữa các công nghệ ra sao?</a:t>
            </a:r>
          </a:p>
        </p:txBody>
      </p:sp>
      <p:sp>
        <p:nvSpPr>
          <p:cNvPr id="7" name="TextBox 6"/>
          <p:cNvSpPr txBox="1"/>
          <p:nvPr/>
        </p:nvSpPr>
        <p:spPr>
          <a:xfrm>
            <a:off x="658368" y="2889504"/>
            <a:ext cx="10881360" cy="448056"/>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Thứ hạng các nước thay đổi thế nào khi chuyển chỉ tiêu?</a:t>
            </a:r>
          </a:p>
        </p:txBody>
      </p:sp>
      <p:sp>
        <p:nvSpPr>
          <p:cNvPr id="8" name="TextBox 7"/>
          <p:cNvSpPr txBox="1"/>
          <p:nvPr/>
        </p:nvSpPr>
        <p:spPr>
          <a:xfrm>
            <a:off x="658368" y="3392424"/>
            <a:ext cx="10881360" cy="448056"/>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Việt Nam đứng ở đâu trong khu vực và trên thế giới?</a:t>
            </a:r>
          </a:p>
        </p:txBody>
      </p:sp>
      <p:sp>
        <p:nvSpPr>
          <p:cNvPr id="9" name="TextBox 8"/>
          <p:cNvSpPr txBox="1"/>
          <p:nvPr/>
        </p:nvSpPr>
        <p:spPr>
          <a:xfrm>
            <a:off x="658368" y="3895344"/>
            <a:ext cx="10881360" cy="448056"/>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Sản lượng và tỷ trọng điện tái tạo có cùng chiều?</a:t>
            </a:r>
          </a:p>
        </p:txBody>
      </p:sp>
      <p:sp>
        <p:nvSpPr>
          <p:cNvPr id="10" name="TextBox 9"/>
          <p:cNvSpPr txBox="1"/>
          <p:nvPr/>
        </p:nvSpPr>
        <p:spPr>
          <a:xfrm>
            <a:off x="658368" y="4398264"/>
            <a:ext cx="10881360" cy="448056"/>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Sản lượng và mức tăng tập trung ở những nước nào?</a:t>
            </a:r>
          </a:p>
        </p:txBody>
      </p:sp>
      <p:sp>
        <p:nvSpPr>
          <p:cNvPr id="11" name="Rectangle 10"/>
          <p:cNvSpPr/>
          <p:nvPr/>
        </p:nvSpPr>
        <p:spPr>
          <a:xfrm>
            <a:off x="658368" y="5074920"/>
            <a:ext cx="10881360" cy="137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85232"/>
            <a:ext cx="10881360" cy="813816"/>
          </a:xfrm>
          <a:prstGeom prst="rect">
            <a:avLst/>
          </a:prstGeom>
          <a:noFill/>
        </p:spPr>
        <p:txBody>
          <a:bodyPr wrap="none" lIns="50800" rIns="50800" tIns="25400" bIns="25400">
            <a:spAutoFit/>
          </a:bodyPr>
          <a:lstStyle/>
          <a:p>
            <a:pPr algn="l">
              <a:lnSpc>
                <a:spcPts val="2108"/>
              </a:lnSpc>
              <a:spcBef>
                <a:spcPts val="0"/>
              </a:spcBef>
              <a:spcAft>
                <a:spcPts val="0"/>
              </a:spcAft>
            </a:pPr>
            <a:r>
              <a:rPr sz="1700" b="0">
                <a:solidFill>
                  <a:srgbClr val="374151"/>
                </a:solidFill>
                <a:latin typeface="Segoe UI"/>
              </a:rPr>
              <a:t>Kết quả phục vụ người lập báo cáo năng lượng, nhà phân tích và người hoạch định chính sách: so sánh có cùng</a:t>
            </a:r>
          </a:p>
          <a:p>
            <a:pPr algn="l">
              <a:lnSpc>
                <a:spcPts val="2108"/>
              </a:lnSpc>
              <a:spcBef>
                <a:spcPts val="0"/>
              </a:spcBef>
              <a:spcAft>
                <a:spcPts val="0"/>
              </a:spcAft>
            </a:pPr>
            <a:r>
              <a:rPr sz="1700" b="0">
                <a:solidFill>
                  <a:srgbClr val="374151"/>
                </a:solidFill>
                <a:latin typeface="Segoe UI"/>
              </a:rPr>
              <a:t>chỉ tiêu, nhận diện khác biệt giữa các nước và xác định dữ liệu cần nghiên cứu thêm.</a:t>
            </a:r>
          </a:p>
        </p:txBody>
      </p:sp>
      <p:sp>
        <p:nvSpPr>
          <p:cNvPr id="13" name="TextBox 12"/>
          <p:cNvSpPr txBox="1"/>
          <p:nvPr/>
        </p:nvSpPr>
        <p:spPr>
          <a:xfrm>
            <a:off x="566928" y="6446520"/>
            <a:ext cx="10469880" cy="219456"/>
          </a:xfrm>
          <a:prstGeom prst="rect">
            <a:avLst/>
          </a:prstGeom>
          <a:noFill/>
        </p:spPr>
        <p:txBody>
          <a:bodyPr wrap="none" lIns="50800" rIns="50800" tIns="25400" bIns="25400">
            <a:spAutoFit/>
          </a:bodyPr>
          <a:lstStyle/>
          <a:p>
            <a:pPr algn="l">
              <a:lnSpc>
                <a:spcPts val="1178"/>
              </a:lnSpc>
              <a:spcBef>
                <a:spcPts val="0"/>
              </a:spcBef>
              <a:spcAft>
                <a:spcPts val="0"/>
              </a:spcAft>
            </a:pPr>
            <a:r>
              <a:rPr sz="950" b="0">
                <a:solidFill>
                  <a:srgbClr val="6B7280"/>
                </a:solidFill>
                <a:latin typeface="Segoe UI"/>
              </a:rPr>
              <a:t>Nguồn: Our World in Data, tổng hợp từ Ember và BP · 10 nước ASEAN · 2000–2021</a:t>
            </a:r>
          </a:p>
        </p:txBody>
      </p:sp>
      <p:sp>
        <p:nvSpPr>
          <p:cNvPr id="14" name="TextBox 13"/>
          <p:cNvSpPr txBox="1"/>
          <p:nvPr/>
        </p:nvSpPr>
        <p:spPr>
          <a:xfrm>
            <a:off x="11109960" y="6446520"/>
            <a:ext cx="457200" cy="219456"/>
          </a:xfrm>
          <a:prstGeom prst="rect">
            <a:avLst/>
          </a:prstGeom>
          <a:noFill/>
        </p:spPr>
        <p:txBody>
          <a:bodyPr wrap="none" lIns="50800" rIns="50800" tIns="25400" bIns="25400">
            <a:spAutoFit/>
          </a:bodyPr>
          <a:lstStyle/>
          <a:p>
            <a:pPr algn="r">
              <a:lnSpc>
                <a:spcPts val="1178"/>
              </a:lnSpc>
              <a:spcBef>
                <a:spcPts val="0"/>
              </a:spcBef>
              <a:spcAft>
                <a:spcPts val="0"/>
              </a:spcAft>
            </a:pPr>
            <a:r>
              <a:rPr sz="950" b="0">
                <a:solidFill>
                  <a:srgbClr val="6B7280"/>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0040"/>
            <a:ext cx="11055096" cy="274320"/>
          </a:xfrm>
          <a:prstGeom prst="rect">
            <a:avLst/>
          </a:prstGeom>
          <a:noFill/>
        </p:spPr>
        <p:txBody>
          <a:bodyPr wrap="none" lIns="50800" rIns="50800" tIns="25400" bIns="25400">
            <a:spAutoFit/>
          </a:bodyPr>
          <a:lstStyle/>
          <a:p>
            <a:pPr algn="l">
              <a:lnSpc>
                <a:spcPts val="1488"/>
              </a:lnSpc>
              <a:spcBef>
                <a:spcPts val="0"/>
              </a:spcBef>
              <a:spcAft>
                <a:spcPts val="0"/>
              </a:spcAft>
            </a:pPr>
            <a:r>
              <a:rPr sz="1200" b="1">
                <a:solidFill>
                  <a:srgbClr val="D55E00"/>
                </a:solidFill>
                <a:latin typeface="Segoe UI"/>
              </a:rPr>
              <a:t>PHẠM VI VÀ GIỚI HẠN</a:t>
            </a:r>
          </a:p>
        </p:txBody>
      </p:sp>
      <p:sp>
        <p:nvSpPr>
          <p:cNvPr id="3" name="TextBox 2"/>
          <p:cNvSpPr txBox="1"/>
          <p:nvPr/>
        </p:nvSpPr>
        <p:spPr>
          <a:xfrm>
            <a:off x="566928" y="713232"/>
            <a:ext cx="11055096" cy="859536"/>
          </a:xfrm>
          <a:prstGeom prst="rect">
            <a:avLst/>
          </a:prstGeom>
          <a:noFill/>
        </p:spPr>
        <p:txBody>
          <a:bodyPr wrap="none" lIns="50800" rIns="50800" tIns="25400" bIns="25400">
            <a:spAutoFit/>
          </a:bodyPr>
          <a:lstStyle/>
          <a:p>
            <a:pPr algn="l">
              <a:lnSpc>
                <a:spcPts val="3720"/>
              </a:lnSpc>
              <a:spcBef>
                <a:spcPts val="0"/>
              </a:spcBef>
              <a:spcAft>
                <a:spcPts val="0"/>
              </a:spcAft>
            </a:pPr>
            <a:r>
              <a:rPr sz="3000" b="1">
                <a:solidFill>
                  <a:srgbClr val="374151"/>
                </a:solidFill>
                <a:latin typeface="Segoe UI"/>
              </a:rPr>
              <a:t>Dữ liệu mô tả kết quả, chưa đủ để xác định nguyên nhân</a:t>
            </a:r>
          </a:p>
        </p:txBody>
      </p:sp>
      <p:sp>
        <p:nvSpPr>
          <p:cNvPr id="4" name="Rectangle 3"/>
          <p:cNvSpPr/>
          <p:nvPr/>
        </p:nvSpPr>
        <p:spPr>
          <a:xfrm>
            <a:off x="566928" y="1636776"/>
            <a:ext cx="11055096" cy="16459"/>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920240"/>
            <a:ext cx="4846320" cy="484632"/>
          </a:xfrm>
          <a:prstGeom prst="rect">
            <a:avLst/>
          </a:prstGeom>
          <a:noFill/>
        </p:spPr>
        <p:txBody>
          <a:bodyPr wrap="none" lIns="50800" rIns="50800" tIns="25400" bIns="25400">
            <a:spAutoFit/>
          </a:bodyPr>
          <a:lstStyle/>
          <a:p>
            <a:pPr algn="l">
              <a:lnSpc>
                <a:spcPts val="2108"/>
              </a:lnSpc>
              <a:spcBef>
                <a:spcPts val="0"/>
              </a:spcBef>
              <a:spcAft>
                <a:spcPts val="0"/>
              </a:spcAft>
            </a:pPr>
            <a:r>
              <a:rPr sz="1700" b="0">
                <a:solidFill>
                  <a:srgbClr val="374151"/>
                </a:solidFill>
                <a:latin typeface="Segoe UI"/>
              </a:rPr>
              <a:t>• Thiếu chi phí sản xuất và suất đầu tư</a:t>
            </a:r>
          </a:p>
        </p:txBody>
      </p:sp>
      <p:sp>
        <p:nvSpPr>
          <p:cNvPr id="6" name="TextBox 5"/>
          <p:cNvSpPr txBox="1"/>
          <p:nvPr/>
        </p:nvSpPr>
        <p:spPr>
          <a:xfrm>
            <a:off x="658368" y="2459736"/>
            <a:ext cx="4846320" cy="484632"/>
          </a:xfrm>
          <a:prstGeom prst="rect">
            <a:avLst/>
          </a:prstGeom>
          <a:noFill/>
        </p:spPr>
        <p:txBody>
          <a:bodyPr wrap="none" lIns="50800" rIns="50800" tIns="25400" bIns="25400">
            <a:spAutoFit/>
          </a:bodyPr>
          <a:lstStyle/>
          <a:p>
            <a:pPr algn="l">
              <a:lnSpc>
                <a:spcPts val="2108"/>
              </a:lnSpc>
              <a:spcBef>
                <a:spcPts val="0"/>
              </a:spcBef>
              <a:spcAft>
                <a:spcPts val="0"/>
              </a:spcAft>
            </a:pPr>
            <a:r>
              <a:rPr sz="1700" b="0">
                <a:solidFill>
                  <a:srgbClr val="374151"/>
                </a:solidFill>
                <a:latin typeface="Segoe UI"/>
              </a:rPr>
              <a:t>• Thiếu chính sách và cơ chế giá</a:t>
            </a:r>
          </a:p>
        </p:txBody>
      </p:sp>
      <p:sp>
        <p:nvSpPr>
          <p:cNvPr id="7" name="TextBox 6"/>
          <p:cNvSpPr txBox="1"/>
          <p:nvPr/>
        </p:nvSpPr>
        <p:spPr>
          <a:xfrm>
            <a:off x="658368" y="2999232"/>
            <a:ext cx="4846320" cy="484632"/>
          </a:xfrm>
          <a:prstGeom prst="rect">
            <a:avLst/>
          </a:prstGeom>
          <a:noFill/>
        </p:spPr>
        <p:txBody>
          <a:bodyPr wrap="none" lIns="50800" rIns="50800" tIns="25400" bIns="25400">
            <a:spAutoFit/>
          </a:bodyPr>
          <a:lstStyle/>
          <a:p>
            <a:pPr algn="l">
              <a:lnSpc>
                <a:spcPts val="2108"/>
              </a:lnSpc>
              <a:spcBef>
                <a:spcPts val="0"/>
              </a:spcBef>
              <a:spcAft>
                <a:spcPts val="0"/>
              </a:spcAft>
            </a:pPr>
            <a:r>
              <a:rPr sz="1700" b="0">
                <a:solidFill>
                  <a:srgbClr val="374151"/>
                </a:solidFill>
                <a:latin typeface="Segoe UI"/>
              </a:rPr>
              <a:t>• Thiếu dân số và tổng sản phẩm quốc nội</a:t>
            </a:r>
          </a:p>
        </p:txBody>
      </p:sp>
      <p:sp>
        <p:nvSpPr>
          <p:cNvPr id="8" name="TextBox 7"/>
          <p:cNvSpPr txBox="1"/>
          <p:nvPr/>
        </p:nvSpPr>
        <p:spPr>
          <a:xfrm>
            <a:off x="658368" y="3538728"/>
            <a:ext cx="4846320" cy="484632"/>
          </a:xfrm>
          <a:prstGeom prst="rect">
            <a:avLst/>
          </a:prstGeom>
          <a:noFill/>
        </p:spPr>
        <p:txBody>
          <a:bodyPr wrap="none" lIns="50800" rIns="50800" tIns="25400" bIns="25400">
            <a:spAutoFit/>
          </a:bodyPr>
          <a:lstStyle/>
          <a:p>
            <a:pPr algn="l">
              <a:lnSpc>
                <a:spcPts val="2108"/>
              </a:lnSpc>
              <a:spcBef>
                <a:spcPts val="0"/>
              </a:spcBef>
              <a:spcAft>
                <a:spcPts val="0"/>
              </a:spcAft>
            </a:pPr>
            <a:r>
              <a:rPr sz="1700" b="0">
                <a:solidFill>
                  <a:srgbClr val="374151"/>
                </a:solidFill>
                <a:latin typeface="Segoe UI"/>
              </a:rPr>
              <a:t>• Thiếu dữ liệu phát thải</a:t>
            </a:r>
          </a:p>
        </p:txBody>
      </p:sp>
      <p:sp>
        <p:nvSpPr>
          <p:cNvPr id="9" name="TextBox 8"/>
          <p:cNvSpPr txBox="1"/>
          <p:nvPr/>
        </p:nvSpPr>
        <p:spPr>
          <a:xfrm>
            <a:off x="658368" y="4078224"/>
            <a:ext cx="4846320" cy="484632"/>
          </a:xfrm>
          <a:prstGeom prst="rect">
            <a:avLst/>
          </a:prstGeom>
          <a:noFill/>
        </p:spPr>
        <p:txBody>
          <a:bodyPr wrap="none" lIns="50800" rIns="50800" tIns="25400" bIns="25400">
            <a:spAutoFit/>
          </a:bodyPr>
          <a:lstStyle/>
          <a:p>
            <a:pPr algn="l">
              <a:lnSpc>
                <a:spcPts val="2108"/>
              </a:lnSpc>
              <a:spcBef>
                <a:spcPts val="0"/>
              </a:spcBef>
              <a:spcAft>
                <a:spcPts val="0"/>
              </a:spcAft>
            </a:pPr>
            <a:r>
              <a:rPr sz="1700" b="0">
                <a:solidFill>
                  <a:srgbClr val="374151"/>
                </a:solidFill>
                <a:latin typeface="Segoe UI"/>
              </a:rPr>
              <a:t>• Điện gió chưa tách trên bờ, ngoài khơi</a:t>
            </a:r>
          </a:p>
        </p:txBody>
      </p:sp>
      <p:sp>
        <p:nvSpPr>
          <p:cNvPr id="10" name="TextBox 9"/>
          <p:cNvSpPr txBox="1"/>
          <p:nvPr/>
        </p:nvSpPr>
        <p:spPr>
          <a:xfrm>
            <a:off x="658368" y="4617720"/>
            <a:ext cx="4846320" cy="484632"/>
          </a:xfrm>
          <a:prstGeom prst="rect">
            <a:avLst/>
          </a:prstGeom>
          <a:noFill/>
        </p:spPr>
        <p:txBody>
          <a:bodyPr wrap="none" lIns="50800" rIns="50800" tIns="25400" bIns="25400">
            <a:spAutoFit/>
          </a:bodyPr>
          <a:lstStyle/>
          <a:p>
            <a:pPr algn="l">
              <a:lnSpc>
                <a:spcPts val="2108"/>
              </a:lnSpc>
              <a:spcBef>
                <a:spcPts val="0"/>
              </a:spcBef>
              <a:spcAft>
                <a:spcPts val="0"/>
              </a:spcAft>
            </a:pPr>
            <a:r>
              <a:rPr sz="1700" b="0">
                <a:solidFill>
                  <a:srgbClr val="374151"/>
                </a:solidFill>
                <a:latin typeface="Segoe UI"/>
              </a:rPr>
              <a:t>• Công suất chưa phủ đủ mọi nước</a:t>
            </a:r>
          </a:p>
        </p:txBody>
      </p:sp>
      <p:pic>
        <p:nvPicPr>
          <p:cNvPr id="11" name="Biểu đồ" descr="Biểu đồ số liệu điện tái tạo theo phạm vi và chỉ tiêu ghi trong hình."/>
          <p:cNvPicPr>
            <a:picLocks noChangeAspect="1"/>
          </p:cNvPicPr>
          <p:nvPr/>
        </p:nvPicPr>
        <p:blipFill>
          <a:blip r:embed="rId2"/>
          <a:stretch>
            <a:fillRect/>
          </a:stretch>
        </p:blipFill>
        <p:spPr>
          <a:xfrm>
            <a:off x="5687568" y="2079688"/>
            <a:ext cx="5870448" cy="3302127"/>
          </a:xfrm>
          <a:prstGeom prst="rect">
            <a:avLst/>
          </a:prstGeom>
        </p:spPr>
      </p:pic>
      <p:sp>
        <p:nvSpPr>
          <p:cNvPr id="12" name="TextBox 11"/>
          <p:cNvSpPr txBox="1"/>
          <p:nvPr/>
        </p:nvSpPr>
        <p:spPr>
          <a:xfrm>
            <a:off x="5687568" y="5532120"/>
            <a:ext cx="5870448" cy="658368"/>
          </a:xfrm>
          <a:prstGeom prst="rect">
            <a:avLst/>
          </a:prstGeom>
          <a:noFill/>
        </p:spPr>
        <p:txBody>
          <a:bodyPr wrap="none" lIns="50800" rIns="50800" tIns="25400" bIns="25400">
            <a:spAutoFit/>
          </a:bodyPr>
          <a:lstStyle/>
          <a:p>
            <a:pPr algn="l">
              <a:lnSpc>
                <a:spcPts val="1860"/>
              </a:lnSpc>
              <a:spcBef>
                <a:spcPts val="0"/>
              </a:spcBef>
              <a:spcAft>
                <a:spcPts val="0"/>
              </a:spcAft>
            </a:pPr>
            <a:r>
              <a:rPr sz="1500" b="0">
                <a:solidFill>
                  <a:srgbClr val="6B7280"/>
                </a:solidFill>
                <a:latin typeface="Segoe UI"/>
              </a:rPr>
              <a:t>Hệ số sử dụng công suất xấp xỉ có 104 quan sát nước–năm–công</a:t>
            </a:r>
          </a:p>
          <a:p>
            <a:pPr algn="l">
              <a:lnSpc>
                <a:spcPts val="1860"/>
              </a:lnSpc>
              <a:spcBef>
                <a:spcPts val="0"/>
              </a:spcBef>
              <a:spcAft>
                <a:spcPts val="0"/>
              </a:spcAft>
            </a:pPr>
            <a:r>
              <a:rPr sz="1500" b="0">
                <a:solidFill>
                  <a:srgbClr val="6B7280"/>
                </a:solidFill>
                <a:latin typeface="Segoe UI"/>
              </a:rPr>
              <a:t>nghệ.</a:t>
            </a:r>
          </a:p>
        </p:txBody>
      </p:sp>
      <p:sp>
        <p:nvSpPr>
          <p:cNvPr id="13" name="TextBox 12"/>
          <p:cNvSpPr txBox="1"/>
          <p:nvPr/>
        </p:nvSpPr>
        <p:spPr>
          <a:xfrm>
            <a:off x="566928" y="6446520"/>
            <a:ext cx="10469880" cy="219456"/>
          </a:xfrm>
          <a:prstGeom prst="rect">
            <a:avLst/>
          </a:prstGeom>
          <a:noFill/>
        </p:spPr>
        <p:txBody>
          <a:bodyPr wrap="none" lIns="50800" rIns="50800" tIns="25400" bIns="25400">
            <a:spAutoFit/>
          </a:bodyPr>
          <a:lstStyle/>
          <a:p>
            <a:pPr algn="l">
              <a:lnSpc>
                <a:spcPts val="1178"/>
              </a:lnSpc>
              <a:spcBef>
                <a:spcPts val="0"/>
              </a:spcBef>
              <a:spcAft>
                <a:spcPts val="0"/>
              </a:spcAft>
            </a:pPr>
            <a:r>
              <a:rPr sz="950" b="0">
                <a:solidFill>
                  <a:srgbClr val="6B7280"/>
                </a:solidFill>
                <a:latin typeface="Segoe UI"/>
              </a:rPr>
              <a:t>Nguồn: Our World in Data, tổng hợp từ Ember và BP · 10 nước ASEAN · 2000–2021</a:t>
            </a:r>
          </a:p>
        </p:txBody>
      </p:sp>
      <p:sp>
        <p:nvSpPr>
          <p:cNvPr id="14" name="TextBox 13"/>
          <p:cNvSpPr txBox="1"/>
          <p:nvPr/>
        </p:nvSpPr>
        <p:spPr>
          <a:xfrm>
            <a:off x="11109960" y="6446520"/>
            <a:ext cx="457200" cy="219456"/>
          </a:xfrm>
          <a:prstGeom prst="rect">
            <a:avLst/>
          </a:prstGeom>
          <a:noFill/>
        </p:spPr>
        <p:txBody>
          <a:bodyPr wrap="none" lIns="50800" rIns="50800" tIns="25400" bIns="25400">
            <a:spAutoFit/>
          </a:bodyPr>
          <a:lstStyle/>
          <a:p>
            <a:pPr algn="r">
              <a:lnSpc>
                <a:spcPts val="1178"/>
              </a:lnSpc>
              <a:spcBef>
                <a:spcPts val="0"/>
              </a:spcBef>
              <a:spcAft>
                <a:spcPts val="0"/>
              </a:spcAft>
            </a:pPr>
            <a:r>
              <a:rPr sz="950" b="0">
                <a:solidFill>
                  <a:srgbClr val="6B7280"/>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0040"/>
            <a:ext cx="11055096" cy="274320"/>
          </a:xfrm>
          <a:prstGeom prst="rect">
            <a:avLst/>
          </a:prstGeom>
          <a:noFill/>
        </p:spPr>
        <p:txBody>
          <a:bodyPr wrap="none" lIns="50800" rIns="50800" tIns="25400" bIns="25400">
            <a:spAutoFit/>
          </a:bodyPr>
          <a:lstStyle/>
          <a:p>
            <a:pPr algn="l">
              <a:lnSpc>
                <a:spcPts val="1488"/>
              </a:lnSpc>
              <a:spcBef>
                <a:spcPts val="0"/>
              </a:spcBef>
              <a:spcAft>
                <a:spcPts val="0"/>
              </a:spcAft>
            </a:pPr>
            <a:r>
              <a:rPr sz="1200" b="1">
                <a:solidFill>
                  <a:srgbClr val="D55E00"/>
                </a:solidFill>
                <a:latin typeface="Segoe UI"/>
              </a:rPr>
              <a:t>CHẤT LƯỢNG DỮ LIỆU</a:t>
            </a:r>
          </a:p>
        </p:txBody>
      </p:sp>
      <p:sp>
        <p:nvSpPr>
          <p:cNvPr id="3" name="TextBox 2"/>
          <p:cNvSpPr txBox="1"/>
          <p:nvPr/>
        </p:nvSpPr>
        <p:spPr>
          <a:xfrm>
            <a:off x="566928" y="713232"/>
            <a:ext cx="11055096" cy="859536"/>
          </a:xfrm>
          <a:prstGeom prst="rect">
            <a:avLst/>
          </a:prstGeom>
          <a:noFill/>
        </p:spPr>
        <p:txBody>
          <a:bodyPr wrap="none" lIns="50800" rIns="50800" tIns="25400" bIns="25400">
            <a:spAutoFit/>
          </a:bodyPr>
          <a:lstStyle/>
          <a:p>
            <a:pPr algn="l">
              <a:lnSpc>
                <a:spcPts val="3720"/>
              </a:lnSpc>
              <a:spcBef>
                <a:spcPts val="0"/>
              </a:spcBef>
              <a:spcAft>
                <a:spcPts val="0"/>
              </a:spcAft>
            </a:pPr>
            <a:r>
              <a:rPr sz="3000" b="1">
                <a:solidFill>
                  <a:srgbClr val="374151"/>
                </a:solidFill>
                <a:latin typeface="Segoe UI"/>
              </a:rPr>
              <a:t>Bốn rủi ro dữ liệu có thể làm sai kết quả phân tích</a:t>
            </a:r>
          </a:p>
        </p:txBody>
      </p:sp>
      <p:sp>
        <p:nvSpPr>
          <p:cNvPr id="4" name="Rectangle 3"/>
          <p:cNvSpPr/>
          <p:nvPr/>
        </p:nvSpPr>
        <p:spPr>
          <a:xfrm>
            <a:off x="566928" y="1636776"/>
            <a:ext cx="11055096" cy="16459"/>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648" y="1810512"/>
            <a:ext cx="2578608" cy="566928"/>
          </a:xfrm>
          <a:prstGeom prst="rect">
            <a:avLst/>
          </a:prstGeom>
          <a:noFill/>
        </p:spPr>
        <p:txBody>
          <a:bodyPr wrap="none" lIns="50800" rIns="50800" tIns="25400" bIns="25400">
            <a:spAutoFit/>
          </a:bodyPr>
          <a:lstStyle/>
          <a:p>
            <a:pPr algn="ctr">
              <a:lnSpc>
                <a:spcPts val="3906"/>
              </a:lnSpc>
              <a:spcBef>
                <a:spcPts val="0"/>
              </a:spcBef>
              <a:spcAft>
                <a:spcPts val="0"/>
              </a:spcAft>
            </a:pPr>
            <a:r>
              <a:rPr sz="3150" b="1">
                <a:solidFill>
                  <a:srgbClr val="D55E00"/>
                </a:solidFill>
                <a:latin typeface="Segoe UI"/>
              </a:rPr>
              <a:t>3,125%</a:t>
            </a:r>
          </a:p>
        </p:txBody>
      </p:sp>
      <p:sp>
        <p:nvSpPr>
          <p:cNvPr id="6" name="TextBox 5"/>
          <p:cNvSpPr txBox="1"/>
          <p:nvPr/>
        </p:nvSpPr>
        <p:spPr>
          <a:xfrm>
            <a:off x="612648" y="2432304"/>
            <a:ext cx="2578608" cy="65836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Thực thể còn lại khi chỉ giữ</a:t>
            </a:r>
          </a:p>
          <a:p>
            <a:pPr algn="ctr">
              <a:lnSpc>
                <a:spcPts val="1736"/>
              </a:lnSpc>
              <a:spcBef>
                <a:spcPts val="0"/>
              </a:spcBef>
              <a:spcAft>
                <a:spcPts val="0"/>
              </a:spcAft>
            </a:pPr>
            <a:r>
              <a:rPr sz="1400" b="0">
                <a:solidFill>
                  <a:srgbClr val="6B7280"/>
                </a:solidFill>
                <a:latin typeface="Segoe UI"/>
              </a:rPr>
              <a:t>phần chung của 17 tệp</a:t>
            </a:r>
          </a:p>
        </p:txBody>
      </p:sp>
      <p:sp>
        <p:nvSpPr>
          <p:cNvPr id="7" name="TextBox 6"/>
          <p:cNvSpPr txBox="1"/>
          <p:nvPr/>
        </p:nvSpPr>
        <p:spPr>
          <a:xfrm>
            <a:off x="3355848" y="1810512"/>
            <a:ext cx="2578608" cy="566928"/>
          </a:xfrm>
          <a:prstGeom prst="rect">
            <a:avLst/>
          </a:prstGeom>
          <a:noFill/>
        </p:spPr>
        <p:txBody>
          <a:bodyPr wrap="none" lIns="50800" rIns="50800" tIns="25400" bIns="25400">
            <a:spAutoFit/>
          </a:bodyPr>
          <a:lstStyle/>
          <a:p>
            <a:pPr algn="ctr">
              <a:lnSpc>
                <a:spcPts val="3906"/>
              </a:lnSpc>
              <a:spcBef>
                <a:spcPts val="0"/>
              </a:spcBef>
              <a:spcAft>
                <a:spcPts val="0"/>
              </a:spcAft>
            </a:pPr>
            <a:r>
              <a:rPr sz="3150" b="1">
                <a:solidFill>
                  <a:srgbClr val="D55E00"/>
                </a:solidFill>
                <a:latin typeface="Segoe UI"/>
              </a:rPr>
              <a:t>3</a:t>
            </a:r>
          </a:p>
        </p:txBody>
      </p:sp>
      <p:sp>
        <p:nvSpPr>
          <p:cNvPr id="8" name="TextBox 7"/>
          <p:cNvSpPr txBox="1"/>
          <p:nvPr/>
        </p:nvSpPr>
        <p:spPr>
          <a:xfrm>
            <a:off x="3355848" y="2432304"/>
            <a:ext cx="2578608" cy="65836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Tệp chứa dữ liệu trùng với</a:t>
            </a:r>
          </a:p>
          <a:p>
            <a:pPr algn="ctr">
              <a:lnSpc>
                <a:spcPts val="1736"/>
              </a:lnSpc>
              <a:spcBef>
                <a:spcPts val="0"/>
              </a:spcBef>
              <a:spcAft>
                <a:spcPts val="0"/>
              </a:spcAft>
            </a:pPr>
            <a:r>
              <a:rPr sz="1400" b="0">
                <a:solidFill>
                  <a:srgbClr val="6B7280"/>
                </a:solidFill>
                <a:latin typeface="Segoe UI"/>
              </a:rPr>
              <a:t>nguồn đã chọn</a:t>
            </a:r>
          </a:p>
        </p:txBody>
      </p:sp>
      <p:sp>
        <p:nvSpPr>
          <p:cNvPr id="9" name="TextBox 8"/>
          <p:cNvSpPr txBox="1"/>
          <p:nvPr/>
        </p:nvSpPr>
        <p:spPr>
          <a:xfrm>
            <a:off x="6099048" y="1810512"/>
            <a:ext cx="2578608" cy="566928"/>
          </a:xfrm>
          <a:prstGeom prst="rect">
            <a:avLst/>
          </a:prstGeom>
          <a:noFill/>
        </p:spPr>
        <p:txBody>
          <a:bodyPr wrap="none" lIns="50800" rIns="50800" tIns="25400" bIns="25400">
            <a:spAutoFit/>
          </a:bodyPr>
          <a:lstStyle/>
          <a:p>
            <a:pPr algn="ctr">
              <a:lnSpc>
                <a:spcPts val="3906"/>
              </a:lnSpc>
              <a:spcBef>
                <a:spcPts val="0"/>
              </a:spcBef>
              <a:spcAft>
                <a:spcPts val="0"/>
              </a:spcAft>
            </a:pPr>
            <a:r>
              <a:rPr sz="3150" b="1">
                <a:solidFill>
                  <a:srgbClr val="D55E00"/>
                </a:solidFill>
                <a:latin typeface="Segoe UI"/>
              </a:rPr>
              <a:t>8</a:t>
            </a:r>
          </a:p>
        </p:txBody>
      </p:sp>
      <p:sp>
        <p:nvSpPr>
          <p:cNvPr id="10" name="TextBox 9"/>
          <p:cNvSpPr txBox="1"/>
          <p:nvPr/>
        </p:nvSpPr>
        <p:spPr>
          <a:xfrm>
            <a:off x="6099048" y="2432304"/>
            <a:ext cx="2578608" cy="65836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Tệp thiếu nghiêm trọng dữ liệu</a:t>
            </a:r>
          </a:p>
          <a:p>
            <a:pPr algn="ctr">
              <a:lnSpc>
                <a:spcPts val="1736"/>
              </a:lnSpc>
              <a:spcBef>
                <a:spcPts val="0"/>
              </a:spcBef>
              <a:spcAft>
                <a:spcPts val="0"/>
              </a:spcAft>
            </a:pPr>
            <a:r>
              <a:rPr sz="1400" b="0">
                <a:solidFill>
                  <a:srgbClr val="6B7280"/>
                </a:solidFill>
                <a:latin typeface="Segoe UI"/>
              </a:rPr>
              <a:t>năm 2022</a:t>
            </a:r>
          </a:p>
        </p:txBody>
      </p:sp>
      <p:sp>
        <p:nvSpPr>
          <p:cNvPr id="11" name="TextBox 10"/>
          <p:cNvSpPr txBox="1"/>
          <p:nvPr/>
        </p:nvSpPr>
        <p:spPr>
          <a:xfrm>
            <a:off x="8842248" y="1810512"/>
            <a:ext cx="2578608" cy="566928"/>
          </a:xfrm>
          <a:prstGeom prst="rect">
            <a:avLst/>
          </a:prstGeom>
          <a:noFill/>
        </p:spPr>
        <p:txBody>
          <a:bodyPr wrap="none" lIns="50800" rIns="50800" tIns="25400" bIns="25400">
            <a:spAutoFit/>
          </a:bodyPr>
          <a:lstStyle/>
          <a:p>
            <a:pPr algn="ctr">
              <a:lnSpc>
                <a:spcPts val="3906"/>
              </a:lnSpc>
              <a:spcBef>
                <a:spcPts val="0"/>
              </a:spcBef>
              <a:spcAft>
                <a:spcPts val="0"/>
              </a:spcAft>
            </a:pPr>
            <a:r>
              <a:rPr sz="3150" b="1">
                <a:solidFill>
                  <a:srgbClr val="0072B2"/>
                </a:solidFill>
                <a:latin typeface="Segoe UI"/>
              </a:rPr>
              <a:t>106 → 247</a:t>
            </a:r>
          </a:p>
        </p:txBody>
      </p:sp>
      <p:sp>
        <p:nvSpPr>
          <p:cNvPr id="12" name="TextBox 11"/>
          <p:cNvSpPr txBox="1"/>
          <p:nvPr/>
        </p:nvSpPr>
        <p:spPr>
          <a:xfrm>
            <a:off x="8842248" y="2432304"/>
            <a:ext cx="2578608" cy="65836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Số thực thể được ghi nhận</a:t>
            </a:r>
          </a:p>
          <a:p>
            <a:pPr algn="ctr">
              <a:lnSpc>
                <a:spcPts val="1736"/>
              </a:lnSpc>
              <a:spcBef>
                <a:spcPts val="0"/>
              </a:spcBef>
              <a:spcAft>
                <a:spcPts val="0"/>
              </a:spcAft>
            </a:pPr>
            <a:r>
              <a:rPr sz="1400" b="0">
                <a:solidFill>
                  <a:srgbClr val="6B7280"/>
                </a:solidFill>
                <a:latin typeface="Segoe UI"/>
              </a:rPr>
              <a:t>tăng tại năm 2000</a:t>
            </a:r>
          </a:p>
        </p:txBody>
      </p:sp>
      <p:sp>
        <p:nvSpPr>
          <p:cNvPr id="13" name="TextBox 12"/>
          <p:cNvSpPr txBox="1"/>
          <p:nvPr/>
        </p:nvSpPr>
        <p:spPr>
          <a:xfrm>
            <a:off x="658368" y="3794760"/>
            <a:ext cx="10881360" cy="512064"/>
          </a:xfrm>
          <a:prstGeom prst="rect">
            <a:avLst/>
          </a:prstGeom>
          <a:noFill/>
        </p:spPr>
        <p:txBody>
          <a:bodyPr wrap="none" lIns="50800" rIns="50800" tIns="25400" bIns="25400">
            <a:spAutoFit/>
          </a:bodyPr>
          <a:lstStyle/>
          <a:p>
            <a:pPr algn="l">
              <a:lnSpc>
                <a:spcPts val="2108"/>
              </a:lnSpc>
              <a:spcBef>
                <a:spcPts val="0"/>
              </a:spcBef>
              <a:spcAft>
                <a:spcPts val="0"/>
              </a:spcAft>
            </a:pPr>
            <a:r>
              <a:rPr sz="1700" b="0">
                <a:solidFill>
                  <a:srgbClr val="374151"/>
                </a:solidFill>
                <a:latin typeface="Segoe UI"/>
              </a:rPr>
              <a:t>• Ghép chỉ phần chung làm mất nhiều thực thể có dữ liệu hợp lệ.</a:t>
            </a:r>
          </a:p>
        </p:txBody>
      </p:sp>
      <p:sp>
        <p:nvSpPr>
          <p:cNvPr id="14" name="TextBox 13"/>
          <p:cNvSpPr txBox="1"/>
          <p:nvPr/>
        </p:nvSpPr>
        <p:spPr>
          <a:xfrm>
            <a:off x="658368" y="4361688"/>
            <a:ext cx="10881360" cy="512064"/>
          </a:xfrm>
          <a:prstGeom prst="rect">
            <a:avLst/>
          </a:prstGeom>
          <a:noFill/>
        </p:spPr>
        <p:txBody>
          <a:bodyPr wrap="none" lIns="50800" rIns="50800" tIns="25400" bIns="25400">
            <a:spAutoFit/>
          </a:bodyPr>
          <a:lstStyle/>
          <a:p>
            <a:pPr algn="l">
              <a:lnSpc>
                <a:spcPts val="2108"/>
              </a:lnSpc>
              <a:spcBef>
                <a:spcPts val="0"/>
              </a:spcBef>
              <a:spcAft>
                <a:spcPts val="0"/>
              </a:spcAft>
            </a:pPr>
            <a:r>
              <a:rPr sz="1700" b="0">
                <a:solidFill>
                  <a:srgbClr val="374151"/>
                </a:solidFill>
                <a:latin typeface="Segoe UI"/>
              </a:rPr>
              <a:t>• Nạp lại các tệp trùng có thể đếm hai lần cùng sản lượng.</a:t>
            </a:r>
          </a:p>
        </p:txBody>
      </p:sp>
      <p:sp>
        <p:nvSpPr>
          <p:cNvPr id="15" name="TextBox 14"/>
          <p:cNvSpPr txBox="1"/>
          <p:nvPr/>
        </p:nvSpPr>
        <p:spPr>
          <a:xfrm>
            <a:off x="658368" y="4928616"/>
            <a:ext cx="10881360" cy="512064"/>
          </a:xfrm>
          <a:prstGeom prst="rect">
            <a:avLst/>
          </a:prstGeom>
          <a:noFill/>
        </p:spPr>
        <p:txBody>
          <a:bodyPr wrap="none" lIns="50800" rIns="50800" tIns="25400" bIns="25400">
            <a:spAutoFit/>
          </a:bodyPr>
          <a:lstStyle/>
          <a:p>
            <a:pPr algn="l">
              <a:lnSpc>
                <a:spcPts val="2108"/>
              </a:lnSpc>
              <a:spcBef>
                <a:spcPts val="0"/>
              </a:spcBef>
              <a:spcAft>
                <a:spcPts val="0"/>
              </a:spcAft>
            </a:pPr>
            <a:r>
              <a:rPr sz="1700" b="0">
                <a:solidFill>
                  <a:srgbClr val="374151"/>
                </a:solidFill>
                <a:latin typeface="Segoe UI"/>
              </a:rPr>
              <a:t>• Năm cuối thiếu dữ liệu có thể bị hiểu nhầm là sản lượng giảm.</a:t>
            </a:r>
          </a:p>
        </p:txBody>
      </p:sp>
      <p:sp>
        <p:nvSpPr>
          <p:cNvPr id="16" name="TextBox 15"/>
          <p:cNvSpPr txBox="1"/>
          <p:nvPr/>
        </p:nvSpPr>
        <p:spPr>
          <a:xfrm>
            <a:off x="658368" y="5495544"/>
            <a:ext cx="10881360" cy="512064"/>
          </a:xfrm>
          <a:prstGeom prst="rect">
            <a:avLst/>
          </a:prstGeom>
          <a:noFill/>
        </p:spPr>
        <p:txBody>
          <a:bodyPr wrap="none" lIns="50800" rIns="50800" tIns="25400" bIns="25400">
            <a:spAutoFit/>
          </a:bodyPr>
          <a:lstStyle/>
          <a:p>
            <a:pPr algn="l">
              <a:lnSpc>
                <a:spcPts val="2108"/>
              </a:lnSpc>
              <a:spcBef>
                <a:spcPts val="0"/>
              </a:spcBef>
              <a:spcAft>
                <a:spcPts val="0"/>
              </a:spcAft>
            </a:pPr>
            <a:r>
              <a:rPr sz="1700" b="0">
                <a:solidFill>
                  <a:srgbClr val="374151"/>
                </a:solidFill>
                <a:latin typeface="Segoe UI"/>
              </a:rPr>
              <a:t>• Số quốc gia được tính thay đổi giữa các năm làm tỷ lệ khó so sánh.</a:t>
            </a:r>
          </a:p>
        </p:txBody>
      </p:sp>
      <p:sp>
        <p:nvSpPr>
          <p:cNvPr id="17" name="TextBox 16"/>
          <p:cNvSpPr txBox="1"/>
          <p:nvPr/>
        </p:nvSpPr>
        <p:spPr>
          <a:xfrm>
            <a:off x="566928" y="6446520"/>
            <a:ext cx="10469880" cy="219456"/>
          </a:xfrm>
          <a:prstGeom prst="rect">
            <a:avLst/>
          </a:prstGeom>
          <a:noFill/>
        </p:spPr>
        <p:txBody>
          <a:bodyPr wrap="none" lIns="50800" rIns="50800" tIns="25400" bIns="25400">
            <a:spAutoFit/>
          </a:bodyPr>
          <a:lstStyle/>
          <a:p>
            <a:pPr algn="l">
              <a:lnSpc>
                <a:spcPts val="1178"/>
              </a:lnSpc>
              <a:spcBef>
                <a:spcPts val="0"/>
              </a:spcBef>
              <a:spcAft>
                <a:spcPts val="0"/>
              </a:spcAft>
            </a:pPr>
            <a:r>
              <a:rPr sz="950" b="0">
                <a:solidFill>
                  <a:srgbClr val="6B7280"/>
                </a:solidFill>
                <a:latin typeface="Segoe UI"/>
              </a:rPr>
              <a:t>Nguồn: Our World in Data, tổng hợp từ Ember và BP · 10 nước ASEAN · 2000–2021</a:t>
            </a:r>
          </a:p>
        </p:txBody>
      </p:sp>
      <p:sp>
        <p:nvSpPr>
          <p:cNvPr id="18" name="TextBox 17"/>
          <p:cNvSpPr txBox="1"/>
          <p:nvPr/>
        </p:nvSpPr>
        <p:spPr>
          <a:xfrm>
            <a:off x="11109960" y="6446520"/>
            <a:ext cx="457200" cy="219456"/>
          </a:xfrm>
          <a:prstGeom prst="rect">
            <a:avLst/>
          </a:prstGeom>
          <a:noFill/>
        </p:spPr>
        <p:txBody>
          <a:bodyPr wrap="none" lIns="50800" rIns="50800" tIns="25400" bIns="25400">
            <a:spAutoFit/>
          </a:bodyPr>
          <a:lstStyle/>
          <a:p>
            <a:pPr algn="r">
              <a:lnSpc>
                <a:spcPts val="1178"/>
              </a:lnSpc>
              <a:spcBef>
                <a:spcPts val="0"/>
              </a:spcBef>
              <a:spcAft>
                <a:spcPts val="0"/>
              </a:spcAft>
            </a:pPr>
            <a:r>
              <a:rPr sz="950" b="0">
                <a:solidFill>
                  <a:srgbClr val="6B7280"/>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0040"/>
            <a:ext cx="11055096" cy="274320"/>
          </a:xfrm>
          <a:prstGeom prst="rect">
            <a:avLst/>
          </a:prstGeom>
          <a:noFill/>
        </p:spPr>
        <p:txBody>
          <a:bodyPr wrap="none" lIns="50800" rIns="50800" tIns="25400" bIns="25400">
            <a:spAutoFit/>
          </a:bodyPr>
          <a:lstStyle/>
          <a:p>
            <a:pPr algn="l">
              <a:lnSpc>
                <a:spcPts val="1488"/>
              </a:lnSpc>
              <a:spcBef>
                <a:spcPts val="0"/>
              </a:spcBef>
              <a:spcAft>
                <a:spcPts val="0"/>
              </a:spcAft>
            </a:pPr>
            <a:r>
              <a:rPr sz="1200" b="1">
                <a:solidFill>
                  <a:srgbClr val="D55E00"/>
                </a:solidFill>
                <a:latin typeface="Segoe UI"/>
              </a:rPr>
              <a:t>KIỂM TRA DỮ LIỆU</a:t>
            </a:r>
          </a:p>
        </p:txBody>
      </p:sp>
      <p:sp>
        <p:nvSpPr>
          <p:cNvPr id="3" name="TextBox 2"/>
          <p:cNvSpPr txBox="1"/>
          <p:nvPr/>
        </p:nvSpPr>
        <p:spPr>
          <a:xfrm>
            <a:off x="566928" y="713232"/>
            <a:ext cx="11055096" cy="859536"/>
          </a:xfrm>
          <a:prstGeom prst="rect">
            <a:avLst/>
          </a:prstGeom>
          <a:noFill/>
        </p:spPr>
        <p:txBody>
          <a:bodyPr wrap="none" lIns="50800" rIns="50800" tIns="25400" bIns="25400">
            <a:spAutoFit/>
          </a:bodyPr>
          <a:lstStyle/>
          <a:p>
            <a:pPr algn="l">
              <a:lnSpc>
                <a:spcPts val="3720"/>
              </a:lnSpc>
              <a:spcBef>
                <a:spcPts val="0"/>
              </a:spcBef>
              <a:spcAft>
                <a:spcPts val="0"/>
              </a:spcAft>
            </a:pPr>
            <a:r>
              <a:rPr sz="3000" b="1">
                <a:solidFill>
                  <a:srgbClr val="374151"/>
                </a:solidFill>
                <a:latin typeface="Segoe UI"/>
              </a:rPr>
              <a:t>Kiểm tra dữ liệu sau làm sạch bằng đối chiếu và tái lập</a:t>
            </a:r>
          </a:p>
        </p:txBody>
      </p:sp>
      <p:sp>
        <p:nvSpPr>
          <p:cNvPr id="4" name="Rectangle 3"/>
          <p:cNvSpPr/>
          <p:nvPr/>
        </p:nvSpPr>
        <p:spPr>
          <a:xfrm>
            <a:off x="566928" y="1636776"/>
            <a:ext cx="11055096" cy="16459"/>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648" y="1810512"/>
            <a:ext cx="2578608" cy="566928"/>
          </a:xfrm>
          <a:prstGeom prst="rect">
            <a:avLst/>
          </a:prstGeom>
          <a:noFill/>
        </p:spPr>
        <p:txBody>
          <a:bodyPr wrap="none" lIns="50800" rIns="50800" tIns="25400" bIns="25400">
            <a:spAutoFit/>
          </a:bodyPr>
          <a:lstStyle/>
          <a:p>
            <a:pPr algn="ctr">
              <a:lnSpc>
                <a:spcPts val="3906"/>
              </a:lnSpc>
              <a:spcBef>
                <a:spcPts val="0"/>
              </a:spcBef>
              <a:spcAft>
                <a:spcPts val="0"/>
              </a:spcAft>
            </a:pPr>
            <a:r>
              <a:rPr sz="3150" b="1">
                <a:solidFill>
                  <a:srgbClr val="0072B2"/>
                </a:solidFill>
                <a:latin typeface="Segoe UI"/>
              </a:rPr>
              <a:t>89.075</a:t>
            </a:r>
          </a:p>
        </p:txBody>
      </p:sp>
      <p:sp>
        <p:nvSpPr>
          <p:cNvPr id="6" name="TextBox 5"/>
          <p:cNvSpPr txBox="1"/>
          <p:nvPr/>
        </p:nvSpPr>
        <p:spPr>
          <a:xfrm>
            <a:off x="612648" y="2432304"/>
            <a:ext cx="2578608" cy="65836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Bản ghi sau chuẩn hóa</a:t>
            </a:r>
          </a:p>
        </p:txBody>
      </p:sp>
      <p:sp>
        <p:nvSpPr>
          <p:cNvPr id="7" name="TextBox 6"/>
          <p:cNvSpPr txBox="1"/>
          <p:nvPr/>
        </p:nvSpPr>
        <p:spPr>
          <a:xfrm>
            <a:off x="3355848" y="1810512"/>
            <a:ext cx="2578608" cy="566928"/>
          </a:xfrm>
          <a:prstGeom prst="rect">
            <a:avLst/>
          </a:prstGeom>
          <a:noFill/>
        </p:spPr>
        <p:txBody>
          <a:bodyPr wrap="none" lIns="50800" rIns="50800" tIns="25400" bIns="25400">
            <a:spAutoFit/>
          </a:bodyPr>
          <a:lstStyle/>
          <a:p>
            <a:pPr algn="ctr">
              <a:lnSpc>
                <a:spcPts val="3906"/>
              </a:lnSpc>
              <a:spcBef>
                <a:spcPts val="0"/>
              </a:spcBef>
              <a:spcAft>
                <a:spcPts val="0"/>
              </a:spcAft>
            </a:pPr>
            <a:r>
              <a:rPr sz="3150" b="1">
                <a:solidFill>
                  <a:srgbClr val="0072B2"/>
                </a:solidFill>
                <a:latin typeface="Segoe UI"/>
              </a:rPr>
              <a:t>8</a:t>
            </a:r>
          </a:p>
        </p:txBody>
      </p:sp>
      <p:sp>
        <p:nvSpPr>
          <p:cNvPr id="8" name="TextBox 7"/>
          <p:cNvSpPr txBox="1"/>
          <p:nvPr/>
        </p:nvSpPr>
        <p:spPr>
          <a:xfrm>
            <a:off x="3355848" y="2432304"/>
            <a:ext cx="2578608" cy="65836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Nhóm kiểm tra dữ liệu</a:t>
            </a:r>
          </a:p>
        </p:txBody>
      </p:sp>
      <p:sp>
        <p:nvSpPr>
          <p:cNvPr id="9" name="TextBox 8"/>
          <p:cNvSpPr txBox="1"/>
          <p:nvPr/>
        </p:nvSpPr>
        <p:spPr>
          <a:xfrm>
            <a:off x="6099048" y="1810512"/>
            <a:ext cx="2578608" cy="566928"/>
          </a:xfrm>
          <a:prstGeom prst="rect">
            <a:avLst/>
          </a:prstGeom>
          <a:noFill/>
        </p:spPr>
        <p:txBody>
          <a:bodyPr wrap="none" lIns="50800" rIns="50800" tIns="25400" bIns="25400">
            <a:spAutoFit/>
          </a:bodyPr>
          <a:lstStyle/>
          <a:p>
            <a:pPr algn="ctr">
              <a:lnSpc>
                <a:spcPts val="3906"/>
              </a:lnSpc>
              <a:spcBef>
                <a:spcPts val="0"/>
              </a:spcBef>
              <a:spcAft>
                <a:spcPts val="0"/>
              </a:spcAft>
            </a:pPr>
            <a:r>
              <a:rPr sz="3150" b="1">
                <a:solidFill>
                  <a:srgbClr val="0072B2"/>
                </a:solidFill>
                <a:latin typeface="Segoe UI"/>
              </a:rPr>
              <a:t>864</a:t>
            </a:r>
          </a:p>
        </p:txBody>
      </p:sp>
      <p:sp>
        <p:nvSpPr>
          <p:cNvPr id="10" name="TextBox 9"/>
          <p:cNvSpPr txBox="1"/>
          <p:nvPr/>
        </p:nvSpPr>
        <p:spPr>
          <a:xfrm>
            <a:off x="6099048" y="2432304"/>
            <a:ext cx="2578608" cy="65836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Kết quả kiểm tra được lưu để</a:t>
            </a:r>
          </a:p>
          <a:p>
            <a:pPr algn="ctr">
              <a:lnSpc>
                <a:spcPts val="1736"/>
              </a:lnSpc>
              <a:spcBef>
                <a:spcPts val="0"/>
              </a:spcBef>
              <a:spcAft>
                <a:spcPts val="0"/>
              </a:spcAft>
            </a:pPr>
            <a:r>
              <a:rPr sz="1400" b="0">
                <a:solidFill>
                  <a:srgbClr val="6B7280"/>
                </a:solidFill>
                <a:latin typeface="Segoe UI"/>
              </a:rPr>
              <a:t>đối chiếu</a:t>
            </a:r>
          </a:p>
        </p:txBody>
      </p:sp>
      <p:sp>
        <p:nvSpPr>
          <p:cNvPr id="11" name="TextBox 10"/>
          <p:cNvSpPr txBox="1"/>
          <p:nvPr/>
        </p:nvSpPr>
        <p:spPr>
          <a:xfrm>
            <a:off x="8842248" y="1810512"/>
            <a:ext cx="2578608" cy="566928"/>
          </a:xfrm>
          <a:prstGeom prst="rect">
            <a:avLst/>
          </a:prstGeom>
          <a:noFill/>
        </p:spPr>
        <p:txBody>
          <a:bodyPr wrap="none" lIns="50800" rIns="50800" tIns="25400" bIns="25400">
            <a:spAutoFit/>
          </a:bodyPr>
          <a:lstStyle/>
          <a:p>
            <a:pPr algn="ctr">
              <a:lnSpc>
                <a:spcPts val="3906"/>
              </a:lnSpc>
              <a:spcBef>
                <a:spcPts val="0"/>
              </a:spcBef>
              <a:spcAft>
                <a:spcPts val="0"/>
              </a:spcAft>
            </a:pPr>
            <a:r>
              <a:rPr sz="3150" b="1">
                <a:solidFill>
                  <a:srgbClr val="009E73"/>
                </a:solidFill>
                <a:latin typeface="Segoe UI"/>
              </a:rPr>
              <a:t>0</a:t>
            </a:r>
          </a:p>
        </p:txBody>
      </p:sp>
      <p:sp>
        <p:nvSpPr>
          <p:cNvPr id="12" name="TextBox 11"/>
          <p:cNvSpPr txBox="1"/>
          <p:nvPr/>
        </p:nvSpPr>
        <p:spPr>
          <a:xfrm>
            <a:off x="8842248" y="2432304"/>
            <a:ext cx="2578608" cy="65836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Lỗi thuộc nhóm bắt buộc phải</a:t>
            </a:r>
          </a:p>
          <a:p>
            <a:pPr algn="ctr">
              <a:lnSpc>
                <a:spcPts val="1736"/>
              </a:lnSpc>
              <a:spcBef>
                <a:spcPts val="0"/>
              </a:spcBef>
              <a:spcAft>
                <a:spcPts val="0"/>
              </a:spcAft>
            </a:pPr>
            <a:r>
              <a:rPr sz="1400" b="0">
                <a:solidFill>
                  <a:srgbClr val="6B7280"/>
                </a:solidFill>
                <a:latin typeface="Segoe UI"/>
              </a:rPr>
              <a:t>xử lý sau làm sạch</a:t>
            </a:r>
          </a:p>
        </p:txBody>
      </p:sp>
      <p:sp>
        <p:nvSpPr>
          <p:cNvPr id="13" name="TextBox 12"/>
          <p:cNvSpPr txBox="1"/>
          <p:nvPr/>
        </p:nvSpPr>
        <p:spPr>
          <a:xfrm>
            <a:off x="658368" y="3273552"/>
            <a:ext cx="10881360" cy="457200"/>
          </a:xfrm>
          <a:prstGeom prst="rect">
            <a:avLst/>
          </a:prstGeom>
          <a:noFill/>
        </p:spPr>
        <p:txBody>
          <a:bodyPr wrap="none" lIns="50800" rIns="50800" tIns="25400" bIns="25400">
            <a:spAutoFit/>
          </a:bodyPr>
          <a:lstStyle/>
          <a:p>
            <a:pPr algn="l">
              <a:lnSpc>
                <a:spcPts val="2232"/>
              </a:lnSpc>
              <a:spcBef>
                <a:spcPts val="0"/>
              </a:spcBef>
              <a:spcAft>
                <a:spcPts val="0"/>
              </a:spcAft>
            </a:pPr>
            <a:r>
              <a:rPr sz="1800" b="1">
                <a:solidFill>
                  <a:srgbClr val="374151"/>
                </a:solidFill>
                <a:latin typeface="Segoe UI"/>
              </a:rPr>
              <a:t>Mỗi bản ghi đại diện cho một thực thể, một năm và một chỉ số.</a:t>
            </a:r>
          </a:p>
        </p:txBody>
      </p:sp>
      <p:sp>
        <p:nvSpPr>
          <p:cNvPr id="14" name="TextBox 13"/>
          <p:cNvSpPr txBox="1"/>
          <p:nvPr/>
        </p:nvSpPr>
        <p:spPr>
          <a:xfrm>
            <a:off x="658368" y="3794760"/>
            <a:ext cx="10881360" cy="512064"/>
          </a:xfrm>
          <a:prstGeom prst="rect">
            <a:avLst/>
          </a:prstGeom>
          <a:noFill/>
        </p:spPr>
        <p:txBody>
          <a:bodyPr wrap="none" lIns="50800" rIns="50800" tIns="25400" bIns="25400">
            <a:spAutoFit/>
          </a:bodyPr>
          <a:lstStyle/>
          <a:p>
            <a:pPr algn="l">
              <a:lnSpc>
                <a:spcPts val="2108"/>
              </a:lnSpc>
              <a:spcBef>
                <a:spcPts val="0"/>
              </a:spcBef>
              <a:spcAft>
                <a:spcPts val="0"/>
              </a:spcAft>
            </a:pPr>
            <a:r>
              <a:rPr sz="1700" b="0">
                <a:solidFill>
                  <a:srgbClr val="374151"/>
                </a:solidFill>
                <a:latin typeface="Segoe UI"/>
              </a:rPr>
              <a:t>• Đối chiếu tổng quốc gia với tổng thế giới theo dung sai.</a:t>
            </a:r>
          </a:p>
        </p:txBody>
      </p:sp>
      <p:sp>
        <p:nvSpPr>
          <p:cNvPr id="15" name="TextBox 14"/>
          <p:cNvSpPr txBox="1"/>
          <p:nvPr/>
        </p:nvSpPr>
        <p:spPr>
          <a:xfrm>
            <a:off x="658368" y="4361688"/>
            <a:ext cx="10881360" cy="512064"/>
          </a:xfrm>
          <a:prstGeom prst="rect">
            <a:avLst/>
          </a:prstGeom>
          <a:noFill/>
        </p:spPr>
        <p:txBody>
          <a:bodyPr wrap="none" lIns="50800" rIns="50800" tIns="25400" bIns="25400">
            <a:spAutoFit/>
          </a:bodyPr>
          <a:lstStyle/>
          <a:p>
            <a:pPr algn="l">
              <a:lnSpc>
                <a:spcPts val="2108"/>
              </a:lnSpc>
              <a:spcBef>
                <a:spcPts val="0"/>
              </a:spcBef>
              <a:spcAft>
                <a:spcPts val="0"/>
              </a:spcAft>
            </a:pPr>
            <a:r>
              <a:rPr sz="1700" b="0">
                <a:solidFill>
                  <a:srgbClr val="374151"/>
                </a:solidFill>
                <a:latin typeface="Segoe UI"/>
              </a:rPr>
              <a:t>• Giữ giá trị bằng 0 đúng như nguồn ghi nhận; tách biệt với dữ liệu thiếu.</a:t>
            </a:r>
          </a:p>
        </p:txBody>
      </p:sp>
      <p:sp>
        <p:nvSpPr>
          <p:cNvPr id="16" name="TextBox 15"/>
          <p:cNvSpPr txBox="1"/>
          <p:nvPr/>
        </p:nvSpPr>
        <p:spPr>
          <a:xfrm>
            <a:off x="658368" y="4928616"/>
            <a:ext cx="10881360" cy="512064"/>
          </a:xfrm>
          <a:prstGeom prst="rect">
            <a:avLst/>
          </a:prstGeom>
          <a:noFill/>
        </p:spPr>
        <p:txBody>
          <a:bodyPr wrap="none" lIns="50800" rIns="50800" tIns="25400" bIns="25400">
            <a:spAutoFit/>
          </a:bodyPr>
          <a:lstStyle/>
          <a:p>
            <a:pPr algn="l">
              <a:lnSpc>
                <a:spcPts val="2108"/>
              </a:lnSpc>
              <a:spcBef>
                <a:spcPts val="0"/>
              </a:spcBef>
              <a:spcAft>
                <a:spcPts val="0"/>
              </a:spcAft>
            </a:pPr>
            <a:r>
              <a:rPr sz="1700" b="0">
                <a:solidFill>
                  <a:srgbClr val="374151"/>
                </a:solidFill>
                <a:latin typeface="Segoe UI"/>
              </a:rPr>
              <a:t>• Giữ và giải thích chênh lệch giữa nguồn, không tự sửa cho khớp.</a:t>
            </a:r>
          </a:p>
        </p:txBody>
      </p:sp>
      <p:sp>
        <p:nvSpPr>
          <p:cNvPr id="17" name="TextBox 16"/>
          <p:cNvSpPr txBox="1"/>
          <p:nvPr/>
        </p:nvSpPr>
        <p:spPr>
          <a:xfrm>
            <a:off x="658368" y="5495544"/>
            <a:ext cx="10881360" cy="512064"/>
          </a:xfrm>
          <a:prstGeom prst="rect">
            <a:avLst/>
          </a:prstGeom>
          <a:noFill/>
        </p:spPr>
        <p:txBody>
          <a:bodyPr wrap="none" lIns="50800" rIns="50800" tIns="25400" bIns="25400">
            <a:spAutoFit/>
          </a:bodyPr>
          <a:lstStyle/>
          <a:p>
            <a:pPr algn="l">
              <a:lnSpc>
                <a:spcPts val="2108"/>
              </a:lnSpc>
              <a:spcBef>
                <a:spcPts val="0"/>
              </a:spcBef>
              <a:spcAft>
                <a:spcPts val="0"/>
              </a:spcAft>
            </a:pPr>
            <a:r>
              <a:rPr sz="1700" b="0">
                <a:solidFill>
                  <a:srgbClr val="374151"/>
                </a:solidFill>
                <a:latin typeface="Segoe UI"/>
              </a:rPr>
              <a:t>• Chạy lại từ dữ liệu gốc để kiểm tra tính nhất quán của kết quả.</a:t>
            </a:r>
          </a:p>
        </p:txBody>
      </p:sp>
      <p:sp>
        <p:nvSpPr>
          <p:cNvPr id="18" name="TextBox 17"/>
          <p:cNvSpPr txBox="1"/>
          <p:nvPr/>
        </p:nvSpPr>
        <p:spPr>
          <a:xfrm>
            <a:off x="566928" y="6446520"/>
            <a:ext cx="10469880" cy="219456"/>
          </a:xfrm>
          <a:prstGeom prst="rect">
            <a:avLst/>
          </a:prstGeom>
          <a:noFill/>
        </p:spPr>
        <p:txBody>
          <a:bodyPr wrap="none" lIns="50800" rIns="50800" tIns="25400" bIns="25400">
            <a:spAutoFit/>
          </a:bodyPr>
          <a:lstStyle/>
          <a:p>
            <a:pPr algn="l">
              <a:lnSpc>
                <a:spcPts val="1178"/>
              </a:lnSpc>
              <a:spcBef>
                <a:spcPts val="0"/>
              </a:spcBef>
              <a:spcAft>
                <a:spcPts val="0"/>
              </a:spcAft>
            </a:pPr>
            <a:r>
              <a:rPr sz="950" b="0">
                <a:solidFill>
                  <a:srgbClr val="6B7280"/>
                </a:solidFill>
                <a:latin typeface="Segoe UI"/>
              </a:rPr>
              <a:t>Nguồn: Our World in Data, tổng hợp từ Ember và BP · 10 nước ASEAN · 2000–2021</a:t>
            </a:r>
          </a:p>
        </p:txBody>
      </p:sp>
      <p:sp>
        <p:nvSpPr>
          <p:cNvPr id="19" name="TextBox 18"/>
          <p:cNvSpPr txBox="1"/>
          <p:nvPr/>
        </p:nvSpPr>
        <p:spPr>
          <a:xfrm>
            <a:off x="11109960" y="6446520"/>
            <a:ext cx="457200" cy="219456"/>
          </a:xfrm>
          <a:prstGeom prst="rect">
            <a:avLst/>
          </a:prstGeom>
          <a:noFill/>
        </p:spPr>
        <p:txBody>
          <a:bodyPr wrap="none" lIns="50800" rIns="50800" tIns="25400" bIns="25400">
            <a:spAutoFit/>
          </a:bodyPr>
          <a:lstStyle/>
          <a:p>
            <a:pPr algn="r">
              <a:lnSpc>
                <a:spcPts val="1178"/>
              </a:lnSpc>
              <a:spcBef>
                <a:spcPts val="0"/>
              </a:spcBef>
              <a:spcAft>
                <a:spcPts val="0"/>
              </a:spcAft>
            </a:pPr>
            <a:r>
              <a:rPr sz="950" b="0">
                <a:solidFill>
                  <a:srgbClr val="6B7280"/>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0040"/>
            <a:ext cx="11055096" cy="274320"/>
          </a:xfrm>
          <a:prstGeom prst="rect">
            <a:avLst/>
          </a:prstGeom>
          <a:noFill/>
        </p:spPr>
        <p:txBody>
          <a:bodyPr wrap="none" lIns="50800" rIns="50800" tIns="25400" bIns="25400">
            <a:spAutoFit/>
          </a:bodyPr>
          <a:lstStyle/>
          <a:p>
            <a:pPr algn="l">
              <a:lnSpc>
                <a:spcPts val="1488"/>
              </a:lnSpc>
              <a:spcBef>
                <a:spcPts val="0"/>
              </a:spcBef>
              <a:spcAft>
                <a:spcPts val="0"/>
              </a:spcAft>
            </a:pPr>
            <a:r>
              <a:rPr sz="1200" b="1">
                <a:solidFill>
                  <a:srgbClr val="D55E00"/>
                </a:solidFill>
                <a:latin typeface="Segoe UI"/>
              </a:rPr>
              <a:t>THỐNG KÊ MÔ TẢ</a:t>
            </a:r>
          </a:p>
        </p:txBody>
      </p:sp>
      <p:sp>
        <p:nvSpPr>
          <p:cNvPr id="3" name="TextBox 2"/>
          <p:cNvSpPr txBox="1"/>
          <p:nvPr/>
        </p:nvSpPr>
        <p:spPr>
          <a:xfrm>
            <a:off x="566928" y="713232"/>
            <a:ext cx="11055096" cy="859536"/>
          </a:xfrm>
          <a:prstGeom prst="rect">
            <a:avLst/>
          </a:prstGeom>
          <a:noFill/>
        </p:spPr>
        <p:txBody>
          <a:bodyPr wrap="none" lIns="50800" rIns="50800" tIns="25400" bIns="25400">
            <a:spAutoFit/>
          </a:bodyPr>
          <a:lstStyle/>
          <a:p>
            <a:pPr algn="l">
              <a:lnSpc>
                <a:spcPts val="3472"/>
              </a:lnSpc>
              <a:spcBef>
                <a:spcPts val="0"/>
              </a:spcBef>
              <a:spcAft>
                <a:spcPts val="0"/>
              </a:spcAft>
            </a:pPr>
            <a:r>
              <a:rPr sz="2800" b="1">
                <a:solidFill>
                  <a:srgbClr val="374151"/>
                </a:solidFill>
                <a:latin typeface="Segoe UI"/>
              </a:rPr>
              <a:t>Trung bình chưa phản ánh tốt sản lượng của một nước điển hình</a:t>
            </a:r>
          </a:p>
        </p:txBody>
      </p:sp>
      <p:sp>
        <p:nvSpPr>
          <p:cNvPr id="4" name="Rectangle 3"/>
          <p:cNvSpPr/>
          <p:nvPr/>
        </p:nvSpPr>
        <p:spPr>
          <a:xfrm>
            <a:off x="566928" y="1636776"/>
            <a:ext cx="11055096" cy="16459"/>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1792" y="1938528"/>
            <a:ext cx="1965960"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1">
                <a:solidFill>
                  <a:srgbClr val="6B7280"/>
                </a:solidFill>
                <a:latin typeface="Segoe UI"/>
              </a:rPr>
              <a:t>Tập quan sát</a:t>
            </a:r>
          </a:p>
        </p:txBody>
      </p:sp>
      <p:sp>
        <p:nvSpPr>
          <p:cNvPr id="6" name="TextBox 5"/>
          <p:cNvSpPr txBox="1"/>
          <p:nvPr/>
        </p:nvSpPr>
        <p:spPr>
          <a:xfrm>
            <a:off x="2587752" y="1938528"/>
            <a:ext cx="594360"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1">
                <a:solidFill>
                  <a:srgbClr val="6B7280"/>
                </a:solidFill>
                <a:latin typeface="Segoe UI"/>
              </a:rPr>
              <a:t>Số</a:t>
            </a:r>
          </a:p>
          <a:p>
            <a:pPr algn="l">
              <a:lnSpc>
                <a:spcPts val="1612"/>
              </a:lnSpc>
              <a:spcBef>
                <a:spcPts val="0"/>
              </a:spcBef>
              <a:spcAft>
                <a:spcPts val="0"/>
              </a:spcAft>
            </a:pPr>
            <a:r>
              <a:rPr sz="1300" b="1">
                <a:solidFill>
                  <a:srgbClr val="6B7280"/>
                </a:solidFill>
                <a:latin typeface="Segoe UI"/>
              </a:rPr>
              <a:t>nước</a:t>
            </a:r>
          </a:p>
        </p:txBody>
      </p:sp>
      <p:sp>
        <p:nvSpPr>
          <p:cNvPr id="7" name="TextBox 6"/>
          <p:cNvSpPr txBox="1"/>
          <p:nvPr/>
        </p:nvSpPr>
        <p:spPr>
          <a:xfrm>
            <a:off x="3182112" y="1938528"/>
            <a:ext cx="859536"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1">
                <a:solidFill>
                  <a:srgbClr val="6B7280"/>
                </a:solidFill>
                <a:latin typeface="Segoe UI"/>
              </a:rPr>
              <a:t>Trung</a:t>
            </a:r>
          </a:p>
          <a:p>
            <a:pPr algn="l">
              <a:lnSpc>
                <a:spcPts val="1612"/>
              </a:lnSpc>
              <a:spcBef>
                <a:spcPts val="0"/>
              </a:spcBef>
              <a:spcAft>
                <a:spcPts val="0"/>
              </a:spcAft>
            </a:pPr>
            <a:r>
              <a:rPr sz="1300" b="1">
                <a:solidFill>
                  <a:srgbClr val="6B7280"/>
                </a:solidFill>
                <a:latin typeface="Segoe UI"/>
              </a:rPr>
              <a:t>bình</a:t>
            </a:r>
          </a:p>
        </p:txBody>
      </p:sp>
      <p:sp>
        <p:nvSpPr>
          <p:cNvPr id="8" name="TextBox 7"/>
          <p:cNvSpPr txBox="1"/>
          <p:nvPr/>
        </p:nvSpPr>
        <p:spPr>
          <a:xfrm>
            <a:off x="4041648" y="1938528"/>
            <a:ext cx="768096"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1">
                <a:solidFill>
                  <a:srgbClr val="6B7280"/>
                </a:solidFill>
                <a:latin typeface="Segoe UI"/>
              </a:rPr>
              <a:t>Trung vị</a:t>
            </a:r>
          </a:p>
        </p:txBody>
      </p:sp>
      <p:sp>
        <p:nvSpPr>
          <p:cNvPr id="9" name="TextBox 8"/>
          <p:cNvSpPr txBox="1"/>
          <p:nvPr/>
        </p:nvSpPr>
        <p:spPr>
          <a:xfrm>
            <a:off x="4809744" y="1938528"/>
            <a:ext cx="914400"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1">
                <a:solidFill>
                  <a:srgbClr val="6B7280"/>
                </a:solidFill>
                <a:latin typeface="Segoe UI"/>
              </a:rPr>
              <a:t>Độ lệch</a:t>
            </a:r>
          </a:p>
          <a:p>
            <a:pPr algn="l">
              <a:lnSpc>
                <a:spcPts val="1612"/>
              </a:lnSpc>
              <a:spcBef>
                <a:spcPts val="0"/>
              </a:spcBef>
              <a:spcAft>
                <a:spcPts val="0"/>
              </a:spcAft>
            </a:pPr>
            <a:r>
              <a:rPr sz="1300" b="1">
                <a:solidFill>
                  <a:srgbClr val="6B7280"/>
                </a:solidFill>
                <a:latin typeface="Segoe UI"/>
              </a:rPr>
              <a:t>chuẩn</a:t>
            </a:r>
          </a:p>
        </p:txBody>
      </p:sp>
      <p:sp>
        <p:nvSpPr>
          <p:cNvPr id="10" name="Rectangle 9"/>
          <p:cNvSpPr/>
          <p:nvPr/>
        </p:nvSpPr>
        <p:spPr>
          <a:xfrm>
            <a:off x="621792" y="2514600"/>
            <a:ext cx="5102352" cy="731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2542032"/>
            <a:ext cx="1965960"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0">
                <a:solidFill>
                  <a:srgbClr val="374151"/>
                </a:solidFill>
                <a:latin typeface="Segoe UI"/>
              </a:rPr>
              <a:t>Toàn bộ quan sát</a:t>
            </a:r>
          </a:p>
        </p:txBody>
      </p:sp>
      <p:sp>
        <p:nvSpPr>
          <p:cNvPr id="12" name="TextBox 11"/>
          <p:cNvSpPr txBox="1"/>
          <p:nvPr/>
        </p:nvSpPr>
        <p:spPr>
          <a:xfrm>
            <a:off x="2587752" y="2542032"/>
            <a:ext cx="594360"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0">
                <a:solidFill>
                  <a:srgbClr val="374151"/>
                </a:solidFill>
                <a:latin typeface="Segoe UI"/>
              </a:rPr>
              <a:t>10</a:t>
            </a:r>
          </a:p>
        </p:txBody>
      </p:sp>
      <p:sp>
        <p:nvSpPr>
          <p:cNvPr id="13" name="TextBox 12"/>
          <p:cNvSpPr txBox="1"/>
          <p:nvPr/>
        </p:nvSpPr>
        <p:spPr>
          <a:xfrm>
            <a:off x="3182112" y="2542032"/>
            <a:ext cx="859536"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0">
                <a:solidFill>
                  <a:srgbClr val="374151"/>
                </a:solidFill>
                <a:latin typeface="Segoe UI"/>
              </a:rPr>
              <a:t>3,443</a:t>
            </a:r>
          </a:p>
        </p:txBody>
      </p:sp>
      <p:sp>
        <p:nvSpPr>
          <p:cNvPr id="14" name="TextBox 13"/>
          <p:cNvSpPr txBox="1"/>
          <p:nvPr/>
        </p:nvSpPr>
        <p:spPr>
          <a:xfrm>
            <a:off x="4041648" y="2542032"/>
            <a:ext cx="768096"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0">
                <a:solidFill>
                  <a:srgbClr val="374151"/>
                </a:solidFill>
                <a:latin typeface="Segoe UI"/>
              </a:rPr>
              <a:t>0,520</a:t>
            </a:r>
          </a:p>
        </p:txBody>
      </p:sp>
      <p:sp>
        <p:nvSpPr>
          <p:cNvPr id="15" name="TextBox 14"/>
          <p:cNvSpPr txBox="1"/>
          <p:nvPr/>
        </p:nvSpPr>
        <p:spPr>
          <a:xfrm>
            <a:off x="4809744" y="2542032"/>
            <a:ext cx="914400"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0">
                <a:solidFill>
                  <a:srgbClr val="374151"/>
                </a:solidFill>
                <a:latin typeface="Segoe UI"/>
              </a:rPr>
              <a:t>7,544</a:t>
            </a:r>
          </a:p>
        </p:txBody>
      </p:sp>
      <p:sp>
        <p:nvSpPr>
          <p:cNvPr id="16" name="Rectangle 15"/>
          <p:cNvSpPr/>
          <p:nvPr/>
        </p:nvSpPr>
        <p:spPr>
          <a:xfrm>
            <a:off x="621792" y="3118104"/>
            <a:ext cx="5102352" cy="731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 y="3145536"/>
            <a:ext cx="1965960"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0">
                <a:solidFill>
                  <a:srgbClr val="374151"/>
                </a:solidFill>
                <a:latin typeface="Segoe UI"/>
              </a:rPr>
              <a:t>Sản lượng dương</a:t>
            </a:r>
          </a:p>
        </p:txBody>
      </p:sp>
      <p:sp>
        <p:nvSpPr>
          <p:cNvPr id="18" name="TextBox 17"/>
          <p:cNvSpPr txBox="1"/>
          <p:nvPr/>
        </p:nvSpPr>
        <p:spPr>
          <a:xfrm>
            <a:off x="2587752" y="3145536"/>
            <a:ext cx="594360"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0">
                <a:solidFill>
                  <a:srgbClr val="374151"/>
                </a:solidFill>
                <a:latin typeface="Segoe UI"/>
              </a:rPr>
              <a:t>9</a:t>
            </a:r>
          </a:p>
        </p:txBody>
      </p:sp>
      <p:sp>
        <p:nvSpPr>
          <p:cNvPr id="19" name="TextBox 18"/>
          <p:cNvSpPr txBox="1"/>
          <p:nvPr/>
        </p:nvSpPr>
        <p:spPr>
          <a:xfrm>
            <a:off x="3182112" y="3145536"/>
            <a:ext cx="859536"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0">
                <a:solidFill>
                  <a:srgbClr val="374151"/>
                </a:solidFill>
                <a:latin typeface="Segoe UI"/>
              </a:rPr>
              <a:t>3,826</a:t>
            </a:r>
          </a:p>
        </p:txBody>
      </p:sp>
      <p:sp>
        <p:nvSpPr>
          <p:cNvPr id="20" name="TextBox 19"/>
          <p:cNvSpPr txBox="1"/>
          <p:nvPr/>
        </p:nvSpPr>
        <p:spPr>
          <a:xfrm>
            <a:off x="4041648" y="3145536"/>
            <a:ext cx="768096"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0">
                <a:solidFill>
                  <a:srgbClr val="374151"/>
                </a:solidFill>
                <a:latin typeface="Segoe UI"/>
              </a:rPr>
              <a:t>0,670</a:t>
            </a:r>
          </a:p>
        </p:txBody>
      </p:sp>
      <p:sp>
        <p:nvSpPr>
          <p:cNvPr id="21" name="TextBox 20"/>
          <p:cNvSpPr txBox="1"/>
          <p:nvPr/>
        </p:nvSpPr>
        <p:spPr>
          <a:xfrm>
            <a:off x="4809744" y="3145536"/>
            <a:ext cx="914400"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0">
                <a:solidFill>
                  <a:srgbClr val="374151"/>
                </a:solidFill>
                <a:latin typeface="Segoe UI"/>
              </a:rPr>
              <a:t>7,859</a:t>
            </a:r>
          </a:p>
        </p:txBody>
      </p:sp>
      <p:sp>
        <p:nvSpPr>
          <p:cNvPr id="22" name="Rectangle 21"/>
          <p:cNvSpPr/>
          <p:nvPr/>
        </p:nvSpPr>
        <p:spPr>
          <a:xfrm>
            <a:off x="621792" y="3721608"/>
            <a:ext cx="5102352" cy="731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 y="3749039"/>
            <a:ext cx="1965960"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0">
                <a:solidFill>
                  <a:srgbClr val="374151"/>
                </a:solidFill>
                <a:latin typeface="Segoe UI"/>
              </a:rPr>
              <a:t>Từ 0,05 TWh trở lên</a:t>
            </a:r>
          </a:p>
        </p:txBody>
      </p:sp>
      <p:sp>
        <p:nvSpPr>
          <p:cNvPr id="24" name="TextBox 23"/>
          <p:cNvSpPr txBox="1"/>
          <p:nvPr/>
        </p:nvSpPr>
        <p:spPr>
          <a:xfrm>
            <a:off x="2587752" y="3749039"/>
            <a:ext cx="594360"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0">
                <a:solidFill>
                  <a:srgbClr val="374151"/>
                </a:solidFill>
                <a:latin typeface="Segoe UI"/>
              </a:rPr>
              <a:t>8</a:t>
            </a:r>
          </a:p>
        </p:txBody>
      </p:sp>
      <p:sp>
        <p:nvSpPr>
          <p:cNvPr id="25" name="TextBox 24"/>
          <p:cNvSpPr txBox="1"/>
          <p:nvPr/>
        </p:nvSpPr>
        <p:spPr>
          <a:xfrm>
            <a:off x="3182112" y="3749039"/>
            <a:ext cx="859536"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0">
                <a:solidFill>
                  <a:srgbClr val="374151"/>
                </a:solidFill>
                <a:latin typeface="Segoe UI"/>
              </a:rPr>
              <a:t>4,299</a:t>
            </a:r>
          </a:p>
        </p:txBody>
      </p:sp>
      <p:sp>
        <p:nvSpPr>
          <p:cNvPr id="26" name="TextBox 25"/>
          <p:cNvSpPr txBox="1"/>
          <p:nvPr/>
        </p:nvSpPr>
        <p:spPr>
          <a:xfrm>
            <a:off x="4041648" y="3749039"/>
            <a:ext cx="768096"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0">
                <a:solidFill>
                  <a:srgbClr val="374151"/>
                </a:solidFill>
                <a:latin typeface="Segoe UI"/>
              </a:rPr>
              <a:t>1,085</a:t>
            </a:r>
          </a:p>
        </p:txBody>
      </p:sp>
      <p:sp>
        <p:nvSpPr>
          <p:cNvPr id="27" name="TextBox 26"/>
          <p:cNvSpPr txBox="1"/>
          <p:nvPr/>
        </p:nvSpPr>
        <p:spPr>
          <a:xfrm>
            <a:off x="4809744" y="3749039"/>
            <a:ext cx="914400" cy="557784"/>
          </a:xfrm>
          <a:prstGeom prst="rect">
            <a:avLst/>
          </a:prstGeom>
          <a:noFill/>
        </p:spPr>
        <p:txBody>
          <a:bodyPr wrap="none" lIns="50800" rIns="50800" tIns="25400" bIns="25400">
            <a:spAutoFit/>
          </a:bodyPr>
          <a:lstStyle/>
          <a:p>
            <a:pPr algn="l">
              <a:lnSpc>
                <a:spcPts val="1612"/>
              </a:lnSpc>
              <a:spcBef>
                <a:spcPts val="0"/>
              </a:spcBef>
              <a:spcAft>
                <a:spcPts val="0"/>
              </a:spcAft>
            </a:pPr>
            <a:r>
              <a:rPr sz="1300" b="0">
                <a:solidFill>
                  <a:srgbClr val="374151"/>
                </a:solidFill>
                <a:latin typeface="Segoe UI"/>
              </a:rPr>
              <a:t>8,214</a:t>
            </a:r>
          </a:p>
        </p:txBody>
      </p:sp>
      <p:sp>
        <p:nvSpPr>
          <p:cNvPr id="28" name="Rectangle 27"/>
          <p:cNvSpPr/>
          <p:nvPr/>
        </p:nvSpPr>
        <p:spPr>
          <a:xfrm>
            <a:off x="621792" y="4325112"/>
            <a:ext cx="5102352" cy="731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4535424"/>
            <a:ext cx="5166360" cy="594360"/>
          </a:xfrm>
          <a:prstGeom prst="rect">
            <a:avLst/>
          </a:prstGeom>
          <a:noFill/>
        </p:spPr>
        <p:txBody>
          <a:bodyPr wrap="none" lIns="50800" rIns="50800" tIns="25400" bIns="25400">
            <a:spAutoFit/>
          </a:bodyPr>
          <a:lstStyle/>
          <a:p>
            <a:pPr algn="l">
              <a:lnSpc>
                <a:spcPts val="1984"/>
              </a:lnSpc>
              <a:spcBef>
                <a:spcPts val="0"/>
              </a:spcBef>
              <a:spcAft>
                <a:spcPts val="0"/>
              </a:spcAft>
            </a:pPr>
            <a:r>
              <a:rPr sz="1600" b="0">
                <a:solidFill>
                  <a:srgbClr val="374151"/>
                </a:solidFill>
                <a:latin typeface="Segoe UI"/>
              </a:rPr>
              <a:t>Phân vị 25%: 0,1225 TWh</a:t>
            </a:r>
          </a:p>
          <a:p>
            <a:pPr algn="l">
              <a:lnSpc>
                <a:spcPts val="1984"/>
              </a:lnSpc>
              <a:spcBef>
                <a:spcPts val="0"/>
              </a:spcBef>
              <a:spcAft>
                <a:spcPts val="0"/>
              </a:spcAft>
            </a:pPr>
            <a:r>
              <a:rPr sz="1600" b="0">
                <a:solidFill>
                  <a:srgbClr val="374151"/>
                </a:solidFill>
                <a:latin typeface="Segoe UI"/>
              </a:rPr>
              <a:t>Phân vị 75%: 1,500 TWh</a:t>
            </a:r>
          </a:p>
        </p:txBody>
      </p:sp>
      <p:sp>
        <p:nvSpPr>
          <p:cNvPr id="30" name="TextBox 29"/>
          <p:cNvSpPr txBox="1"/>
          <p:nvPr/>
        </p:nvSpPr>
        <p:spPr>
          <a:xfrm>
            <a:off x="621792" y="5285232"/>
            <a:ext cx="5166360" cy="877824"/>
          </a:xfrm>
          <a:prstGeom prst="rect">
            <a:avLst/>
          </a:prstGeom>
          <a:noFill/>
        </p:spPr>
        <p:txBody>
          <a:bodyPr wrap="none" lIns="50800" rIns="50800" tIns="25400" bIns="25400">
            <a:spAutoFit/>
          </a:bodyPr>
          <a:lstStyle/>
          <a:p>
            <a:pPr algn="l">
              <a:lnSpc>
                <a:spcPts val="1984"/>
              </a:lnSpc>
              <a:spcBef>
                <a:spcPts val="0"/>
              </a:spcBef>
              <a:spcAft>
                <a:spcPts val="0"/>
              </a:spcAft>
            </a:pPr>
            <a:r>
              <a:rPr sz="1600" b="0">
                <a:solidFill>
                  <a:srgbClr val="6B7280"/>
                </a:solidFill>
                <a:latin typeface="Segoe UI"/>
              </a:rPr>
              <a:t>Đọc kèm trung vị và phân vị để mô tả các nước có sản</a:t>
            </a:r>
          </a:p>
          <a:p>
            <a:pPr algn="l">
              <a:lnSpc>
                <a:spcPts val="1984"/>
              </a:lnSpc>
              <a:spcBef>
                <a:spcPts val="0"/>
              </a:spcBef>
              <a:spcAft>
                <a:spcPts val="0"/>
              </a:spcAft>
            </a:pPr>
            <a:r>
              <a:rPr sz="1600" b="0">
                <a:solidFill>
                  <a:srgbClr val="6B7280"/>
                </a:solidFill>
                <a:latin typeface="Segoe UI"/>
              </a:rPr>
              <a:t>lượng thấp hơn. Độ lệch chuẩn tính cho toàn bộ tập</a:t>
            </a:r>
          </a:p>
          <a:p>
            <a:pPr algn="l">
              <a:lnSpc>
                <a:spcPts val="1984"/>
              </a:lnSpc>
              <a:spcBef>
                <a:spcPts val="0"/>
              </a:spcBef>
              <a:spcAft>
                <a:spcPts val="0"/>
              </a:spcAft>
            </a:pPr>
            <a:r>
              <a:rPr sz="1600" b="0">
                <a:solidFill>
                  <a:srgbClr val="6B7280"/>
                </a:solidFill>
                <a:latin typeface="Segoe UI"/>
              </a:rPr>
              <a:t>quan sát.</a:t>
            </a:r>
          </a:p>
        </p:txBody>
      </p:sp>
      <p:pic>
        <p:nvPicPr>
          <p:cNvPr id="31" name="Biểu đồ" descr="Biểu đồ số liệu điện tái tạo theo phạm vi và chỉ tiêu ghi trong hình."/>
          <p:cNvPicPr>
            <a:picLocks noChangeAspect="1"/>
          </p:cNvPicPr>
          <p:nvPr/>
        </p:nvPicPr>
        <p:blipFill>
          <a:blip r:embed="rId2"/>
          <a:stretch>
            <a:fillRect/>
          </a:stretch>
        </p:blipFill>
        <p:spPr>
          <a:xfrm>
            <a:off x="6071616" y="2275568"/>
            <a:ext cx="5486400" cy="3477296"/>
          </a:xfrm>
          <a:prstGeom prst="rect">
            <a:avLst/>
          </a:prstGeom>
        </p:spPr>
      </p:pic>
      <p:sp>
        <p:nvSpPr>
          <p:cNvPr id="32" name="TextBox 31"/>
          <p:cNvSpPr txBox="1"/>
          <p:nvPr/>
        </p:nvSpPr>
        <p:spPr>
          <a:xfrm>
            <a:off x="566928" y="6446520"/>
            <a:ext cx="10469880" cy="219456"/>
          </a:xfrm>
          <a:prstGeom prst="rect">
            <a:avLst/>
          </a:prstGeom>
          <a:noFill/>
        </p:spPr>
        <p:txBody>
          <a:bodyPr wrap="none" lIns="50800" rIns="50800" tIns="25400" bIns="25400">
            <a:spAutoFit/>
          </a:bodyPr>
          <a:lstStyle/>
          <a:p>
            <a:pPr algn="l">
              <a:lnSpc>
                <a:spcPts val="1178"/>
              </a:lnSpc>
              <a:spcBef>
                <a:spcPts val="0"/>
              </a:spcBef>
              <a:spcAft>
                <a:spcPts val="0"/>
              </a:spcAft>
            </a:pPr>
            <a:r>
              <a:rPr sz="950" b="0">
                <a:solidFill>
                  <a:srgbClr val="6B7280"/>
                </a:solidFill>
                <a:latin typeface="Segoe UI"/>
              </a:rPr>
              <a:t>Nguồn: Our World in Data, tổng hợp từ Ember và BP · 10 nước ASEAN · 2000–2021</a:t>
            </a:r>
          </a:p>
        </p:txBody>
      </p:sp>
      <p:sp>
        <p:nvSpPr>
          <p:cNvPr id="33" name="TextBox 32"/>
          <p:cNvSpPr txBox="1"/>
          <p:nvPr/>
        </p:nvSpPr>
        <p:spPr>
          <a:xfrm>
            <a:off x="11109960" y="6446520"/>
            <a:ext cx="457200" cy="219456"/>
          </a:xfrm>
          <a:prstGeom prst="rect">
            <a:avLst/>
          </a:prstGeom>
          <a:noFill/>
        </p:spPr>
        <p:txBody>
          <a:bodyPr wrap="none" lIns="50800" rIns="50800" tIns="25400" bIns="25400">
            <a:spAutoFit/>
          </a:bodyPr>
          <a:lstStyle/>
          <a:p>
            <a:pPr algn="r">
              <a:lnSpc>
                <a:spcPts val="1178"/>
              </a:lnSpc>
              <a:spcBef>
                <a:spcPts val="0"/>
              </a:spcBef>
              <a:spcAft>
                <a:spcPts val="0"/>
              </a:spcAft>
            </a:pPr>
            <a:r>
              <a:rPr sz="950" b="0">
                <a:solidFill>
                  <a:srgbClr val="6B7280"/>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0040"/>
            <a:ext cx="11055096" cy="274320"/>
          </a:xfrm>
          <a:prstGeom prst="rect">
            <a:avLst/>
          </a:prstGeom>
          <a:noFill/>
        </p:spPr>
        <p:txBody>
          <a:bodyPr wrap="none" lIns="50800" rIns="50800" tIns="25400" bIns="25400">
            <a:spAutoFit/>
          </a:bodyPr>
          <a:lstStyle/>
          <a:p>
            <a:pPr algn="l">
              <a:lnSpc>
                <a:spcPts val="1488"/>
              </a:lnSpc>
              <a:spcBef>
                <a:spcPts val="0"/>
              </a:spcBef>
              <a:spcAft>
                <a:spcPts val="0"/>
              </a:spcAft>
            </a:pPr>
            <a:r>
              <a:rPr sz="1200" b="1">
                <a:solidFill>
                  <a:srgbClr val="D55E00"/>
                </a:solidFill>
                <a:latin typeface="Segoe UI"/>
              </a:rPr>
              <a:t>QUY MÔ VÀ TỶ TRỌNG</a:t>
            </a:r>
          </a:p>
        </p:txBody>
      </p:sp>
      <p:sp>
        <p:nvSpPr>
          <p:cNvPr id="3" name="TextBox 2"/>
          <p:cNvSpPr txBox="1"/>
          <p:nvPr/>
        </p:nvSpPr>
        <p:spPr>
          <a:xfrm>
            <a:off x="566928" y="713232"/>
            <a:ext cx="11055096" cy="859536"/>
          </a:xfrm>
          <a:prstGeom prst="rect">
            <a:avLst/>
          </a:prstGeom>
          <a:noFill/>
        </p:spPr>
        <p:txBody>
          <a:bodyPr wrap="none" lIns="50800" rIns="50800" tIns="25400" bIns="25400">
            <a:spAutoFit/>
          </a:bodyPr>
          <a:lstStyle/>
          <a:p>
            <a:pPr algn="l">
              <a:lnSpc>
                <a:spcPts val="3720"/>
              </a:lnSpc>
              <a:spcBef>
                <a:spcPts val="0"/>
              </a:spcBef>
              <a:spcAft>
                <a:spcPts val="0"/>
              </a:spcAft>
            </a:pPr>
            <a:r>
              <a:rPr sz="3000" b="1">
                <a:solidFill>
                  <a:srgbClr val="374151"/>
                </a:solidFill>
                <a:latin typeface="Segoe UI"/>
              </a:rPr>
              <a:t>Sản lượng tăng gần bốn lần, tỷ trọng thế giới vẫn dưới 4%</a:t>
            </a:r>
          </a:p>
        </p:txBody>
      </p:sp>
      <p:sp>
        <p:nvSpPr>
          <p:cNvPr id="4" name="Rectangle 3"/>
          <p:cNvSpPr/>
          <p:nvPr/>
        </p:nvSpPr>
        <p:spPr>
          <a:xfrm>
            <a:off x="566928" y="1636776"/>
            <a:ext cx="11055096" cy="16459"/>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Biểu đồ" descr="Biểu đồ số liệu điện tái tạo theo phạm vi và chỉ tiêu ghi trong hình."/>
          <p:cNvPicPr>
            <a:picLocks noChangeAspect="1"/>
          </p:cNvPicPr>
          <p:nvPr/>
        </p:nvPicPr>
        <p:blipFill>
          <a:blip r:embed="rId2"/>
          <a:stretch>
            <a:fillRect/>
          </a:stretch>
        </p:blipFill>
        <p:spPr>
          <a:xfrm>
            <a:off x="879856" y="1828800"/>
            <a:ext cx="7055103" cy="3968495"/>
          </a:xfrm>
          <a:prstGeom prst="rect">
            <a:avLst/>
          </a:prstGeom>
        </p:spPr>
      </p:pic>
      <p:sp>
        <p:nvSpPr>
          <p:cNvPr id="6" name="TextBox 5"/>
          <p:cNvSpPr txBox="1"/>
          <p:nvPr/>
        </p:nvSpPr>
        <p:spPr>
          <a:xfrm>
            <a:off x="8394192" y="1865376"/>
            <a:ext cx="3154680" cy="475488"/>
          </a:xfrm>
          <a:prstGeom prst="rect">
            <a:avLst/>
          </a:prstGeom>
          <a:noFill/>
        </p:spPr>
        <p:txBody>
          <a:bodyPr wrap="none" lIns="50800" rIns="50800" tIns="25400" bIns="25400">
            <a:spAutoFit/>
          </a:bodyPr>
          <a:lstStyle/>
          <a:p>
            <a:pPr algn="ctr">
              <a:lnSpc>
                <a:spcPts val="3224"/>
              </a:lnSpc>
              <a:spcBef>
                <a:spcPts val="0"/>
              </a:spcBef>
              <a:spcAft>
                <a:spcPts val="0"/>
              </a:spcAft>
            </a:pPr>
            <a:r>
              <a:rPr sz="2600" b="1">
                <a:solidFill>
                  <a:srgbClr val="0072B2"/>
                </a:solidFill>
                <a:latin typeface="Segoe UI"/>
              </a:rPr>
              <a:t>72,8 → 289,7</a:t>
            </a:r>
          </a:p>
        </p:txBody>
      </p:sp>
      <p:sp>
        <p:nvSpPr>
          <p:cNvPr id="7" name="TextBox 6"/>
          <p:cNvSpPr txBox="1"/>
          <p:nvPr/>
        </p:nvSpPr>
        <p:spPr>
          <a:xfrm>
            <a:off x="8394192" y="2386584"/>
            <a:ext cx="3154680" cy="74980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Sản lượng điện tái tạo ASEAN (TWh),</a:t>
            </a:r>
          </a:p>
          <a:p>
            <a:pPr algn="ctr">
              <a:lnSpc>
                <a:spcPts val="1736"/>
              </a:lnSpc>
              <a:spcBef>
                <a:spcPts val="0"/>
              </a:spcBef>
              <a:spcAft>
                <a:spcPts val="0"/>
              </a:spcAft>
            </a:pPr>
            <a:r>
              <a:rPr sz="1400" b="0">
                <a:solidFill>
                  <a:srgbClr val="6B7280"/>
                </a:solidFill>
                <a:latin typeface="Segoe UI"/>
              </a:rPr>
              <a:t>2000 và 2021</a:t>
            </a:r>
          </a:p>
        </p:txBody>
      </p:sp>
      <p:sp>
        <p:nvSpPr>
          <p:cNvPr id="8" name="TextBox 7"/>
          <p:cNvSpPr txBox="1"/>
          <p:nvPr/>
        </p:nvSpPr>
        <p:spPr>
          <a:xfrm>
            <a:off x="8394192" y="3648456"/>
            <a:ext cx="3154680" cy="475488"/>
          </a:xfrm>
          <a:prstGeom prst="rect">
            <a:avLst/>
          </a:prstGeom>
          <a:noFill/>
        </p:spPr>
        <p:txBody>
          <a:bodyPr wrap="none" lIns="50800" rIns="50800" tIns="25400" bIns="25400">
            <a:spAutoFit/>
          </a:bodyPr>
          <a:lstStyle/>
          <a:p>
            <a:pPr algn="ctr">
              <a:lnSpc>
                <a:spcPts val="3224"/>
              </a:lnSpc>
              <a:spcBef>
                <a:spcPts val="0"/>
              </a:spcBef>
              <a:spcAft>
                <a:spcPts val="0"/>
              </a:spcAft>
            </a:pPr>
            <a:r>
              <a:rPr sz="2600" b="1">
                <a:solidFill>
                  <a:srgbClr val="D55E00"/>
                </a:solidFill>
                <a:latin typeface="Segoe UI"/>
              </a:rPr>
              <a:t>2,55% → 3,67%</a:t>
            </a:r>
          </a:p>
        </p:txBody>
      </p:sp>
      <p:sp>
        <p:nvSpPr>
          <p:cNvPr id="9" name="TextBox 8"/>
          <p:cNvSpPr txBox="1"/>
          <p:nvPr/>
        </p:nvSpPr>
        <p:spPr>
          <a:xfrm>
            <a:off x="8394192" y="4169664"/>
            <a:ext cx="3154680" cy="74980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Tỷ trọng ASEAN trong sản lượng điện</a:t>
            </a:r>
          </a:p>
          <a:p>
            <a:pPr algn="ctr">
              <a:lnSpc>
                <a:spcPts val="1736"/>
              </a:lnSpc>
              <a:spcBef>
                <a:spcPts val="0"/>
              </a:spcBef>
              <a:spcAft>
                <a:spcPts val="0"/>
              </a:spcAft>
            </a:pPr>
            <a:r>
              <a:rPr sz="1400" b="0">
                <a:solidFill>
                  <a:srgbClr val="6B7280"/>
                </a:solidFill>
                <a:latin typeface="Segoe UI"/>
              </a:rPr>
              <a:t>tái tạo thế giới</a:t>
            </a:r>
          </a:p>
        </p:txBody>
      </p:sp>
      <p:sp>
        <p:nvSpPr>
          <p:cNvPr id="10" name="TextBox 9"/>
          <p:cNvSpPr txBox="1"/>
          <p:nvPr/>
        </p:nvSpPr>
        <p:spPr>
          <a:xfrm>
            <a:off x="640080" y="5879592"/>
            <a:ext cx="10927080" cy="466344"/>
          </a:xfrm>
          <a:prstGeom prst="rect">
            <a:avLst/>
          </a:prstGeom>
          <a:noFill/>
        </p:spPr>
        <p:txBody>
          <a:bodyPr wrap="none" lIns="50800" rIns="50800" tIns="25400" bIns="25400">
            <a:spAutoFit/>
          </a:bodyPr>
          <a:lstStyle/>
          <a:p>
            <a:pPr algn="l">
              <a:lnSpc>
                <a:spcPts val="1860"/>
              </a:lnSpc>
              <a:spcBef>
                <a:spcPts val="0"/>
              </a:spcBef>
              <a:spcAft>
                <a:spcPts val="0"/>
              </a:spcAft>
            </a:pPr>
            <a:r>
              <a:rPr sz="1500" b="1">
                <a:solidFill>
                  <a:srgbClr val="374151"/>
                </a:solidFill>
                <a:latin typeface="Segoe UI"/>
              </a:rPr>
              <a:t>Thế giới cũng tăng sản lượng; cần xem cả quy mô tuyệt đối và tỷ trọng khi đánh giá ASEAN.</a:t>
            </a:r>
          </a:p>
        </p:txBody>
      </p:sp>
      <p:sp>
        <p:nvSpPr>
          <p:cNvPr id="11" name="TextBox 10"/>
          <p:cNvSpPr txBox="1"/>
          <p:nvPr/>
        </p:nvSpPr>
        <p:spPr>
          <a:xfrm>
            <a:off x="566928" y="6446520"/>
            <a:ext cx="10469880" cy="219456"/>
          </a:xfrm>
          <a:prstGeom prst="rect">
            <a:avLst/>
          </a:prstGeom>
          <a:noFill/>
        </p:spPr>
        <p:txBody>
          <a:bodyPr wrap="none" lIns="50800" rIns="50800" tIns="25400" bIns="25400">
            <a:spAutoFit/>
          </a:bodyPr>
          <a:lstStyle/>
          <a:p>
            <a:pPr algn="l">
              <a:lnSpc>
                <a:spcPts val="1178"/>
              </a:lnSpc>
              <a:spcBef>
                <a:spcPts val="0"/>
              </a:spcBef>
              <a:spcAft>
                <a:spcPts val="0"/>
              </a:spcAft>
            </a:pPr>
            <a:r>
              <a:rPr sz="950" b="0">
                <a:solidFill>
                  <a:srgbClr val="6B7280"/>
                </a:solidFill>
                <a:latin typeface="Segoe UI"/>
              </a:rPr>
              <a:t>Nguồn: Our World in Data, tổng hợp từ Ember và BP · 10 nước ASEAN · 2000–2021</a:t>
            </a:r>
          </a:p>
        </p:txBody>
      </p:sp>
      <p:sp>
        <p:nvSpPr>
          <p:cNvPr id="12" name="TextBox 11"/>
          <p:cNvSpPr txBox="1"/>
          <p:nvPr/>
        </p:nvSpPr>
        <p:spPr>
          <a:xfrm>
            <a:off x="11109960" y="6446520"/>
            <a:ext cx="457200" cy="219456"/>
          </a:xfrm>
          <a:prstGeom prst="rect">
            <a:avLst/>
          </a:prstGeom>
          <a:noFill/>
        </p:spPr>
        <p:txBody>
          <a:bodyPr wrap="none" lIns="50800" rIns="50800" tIns="25400" bIns="25400">
            <a:spAutoFit/>
          </a:bodyPr>
          <a:lstStyle/>
          <a:p>
            <a:pPr algn="r">
              <a:lnSpc>
                <a:spcPts val="1178"/>
              </a:lnSpc>
              <a:spcBef>
                <a:spcPts val="0"/>
              </a:spcBef>
              <a:spcAft>
                <a:spcPts val="0"/>
              </a:spcAft>
            </a:pPr>
            <a:r>
              <a:rPr sz="950" b="0">
                <a:solidFill>
                  <a:srgbClr val="6B7280"/>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0040"/>
            <a:ext cx="11055096" cy="274320"/>
          </a:xfrm>
          <a:prstGeom prst="rect">
            <a:avLst/>
          </a:prstGeom>
          <a:noFill/>
        </p:spPr>
        <p:txBody>
          <a:bodyPr wrap="none" lIns="50800" rIns="50800" tIns="25400" bIns="25400">
            <a:spAutoFit/>
          </a:bodyPr>
          <a:lstStyle/>
          <a:p>
            <a:pPr algn="l">
              <a:lnSpc>
                <a:spcPts val="1488"/>
              </a:lnSpc>
              <a:spcBef>
                <a:spcPts val="0"/>
              </a:spcBef>
              <a:spcAft>
                <a:spcPts val="0"/>
              </a:spcAft>
            </a:pPr>
            <a:r>
              <a:rPr sz="1200" b="1">
                <a:solidFill>
                  <a:srgbClr val="D55E00"/>
                </a:solidFill>
                <a:latin typeface="Segoe UI"/>
              </a:rPr>
              <a:t>CƠ CẤU CÔNG NGHỆ</a:t>
            </a:r>
          </a:p>
        </p:txBody>
      </p:sp>
      <p:sp>
        <p:nvSpPr>
          <p:cNvPr id="3" name="TextBox 2"/>
          <p:cNvSpPr txBox="1"/>
          <p:nvPr/>
        </p:nvSpPr>
        <p:spPr>
          <a:xfrm>
            <a:off x="566928" y="713232"/>
            <a:ext cx="11055096" cy="859536"/>
          </a:xfrm>
          <a:prstGeom prst="rect">
            <a:avLst/>
          </a:prstGeom>
          <a:noFill/>
        </p:spPr>
        <p:txBody>
          <a:bodyPr wrap="none" lIns="50800" rIns="50800" tIns="25400" bIns="25400">
            <a:spAutoFit/>
          </a:bodyPr>
          <a:lstStyle/>
          <a:p>
            <a:pPr algn="l">
              <a:lnSpc>
                <a:spcPts val="3720"/>
              </a:lnSpc>
              <a:spcBef>
                <a:spcPts val="0"/>
              </a:spcBef>
              <a:spcAft>
                <a:spcPts val="0"/>
              </a:spcAft>
            </a:pPr>
            <a:r>
              <a:rPr sz="3000" b="1">
                <a:solidFill>
                  <a:srgbClr val="374151"/>
                </a:solidFill>
                <a:latin typeface="Segoe UI"/>
              </a:rPr>
              <a:t>Dữ liệu ghi nhận sản lượng gió và mặt trời bằng 0 năm 2000</a:t>
            </a:r>
          </a:p>
        </p:txBody>
      </p:sp>
      <p:sp>
        <p:nvSpPr>
          <p:cNvPr id="4" name="Rectangle 3"/>
          <p:cNvSpPr/>
          <p:nvPr/>
        </p:nvSpPr>
        <p:spPr>
          <a:xfrm>
            <a:off x="566928" y="1636776"/>
            <a:ext cx="11055096" cy="16459"/>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Biểu đồ" descr="Biểu đồ số liệu điện tái tạo theo phạm vi và chỉ tiêu ghi trong hình."/>
          <p:cNvPicPr>
            <a:picLocks noChangeAspect="1"/>
          </p:cNvPicPr>
          <p:nvPr/>
        </p:nvPicPr>
        <p:blipFill>
          <a:blip r:embed="rId2"/>
          <a:stretch>
            <a:fillRect/>
          </a:stretch>
        </p:blipFill>
        <p:spPr>
          <a:xfrm>
            <a:off x="879856" y="1828800"/>
            <a:ext cx="7055103" cy="3968495"/>
          </a:xfrm>
          <a:prstGeom prst="rect">
            <a:avLst/>
          </a:prstGeom>
        </p:spPr>
      </p:pic>
      <p:sp>
        <p:nvSpPr>
          <p:cNvPr id="6" name="TextBox 5"/>
          <p:cNvSpPr txBox="1"/>
          <p:nvPr/>
        </p:nvSpPr>
        <p:spPr>
          <a:xfrm>
            <a:off x="8394192" y="1865376"/>
            <a:ext cx="3154680" cy="475488"/>
          </a:xfrm>
          <a:prstGeom prst="rect">
            <a:avLst/>
          </a:prstGeom>
          <a:noFill/>
        </p:spPr>
        <p:txBody>
          <a:bodyPr wrap="none" lIns="50800" rIns="50800" tIns="25400" bIns="25400">
            <a:spAutoFit/>
          </a:bodyPr>
          <a:lstStyle/>
          <a:p>
            <a:pPr algn="ctr">
              <a:lnSpc>
                <a:spcPts val="3224"/>
              </a:lnSpc>
              <a:spcBef>
                <a:spcPts val="0"/>
              </a:spcBef>
              <a:spcAft>
                <a:spcPts val="0"/>
              </a:spcAft>
            </a:pPr>
            <a:r>
              <a:rPr sz="2600" b="1">
                <a:solidFill>
                  <a:srgbClr val="009E73"/>
                </a:solidFill>
                <a:latin typeface="Segoe UI"/>
              </a:rPr>
              <a:t>0 → 42,73</a:t>
            </a:r>
          </a:p>
        </p:txBody>
      </p:sp>
      <p:sp>
        <p:nvSpPr>
          <p:cNvPr id="7" name="TextBox 6"/>
          <p:cNvSpPr txBox="1"/>
          <p:nvPr/>
        </p:nvSpPr>
        <p:spPr>
          <a:xfrm>
            <a:off x="8394192" y="2386584"/>
            <a:ext cx="3154680" cy="74980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Sản lượng gió và mặt trời ASEAN</a:t>
            </a:r>
          </a:p>
          <a:p>
            <a:pPr algn="ctr">
              <a:lnSpc>
                <a:spcPts val="1736"/>
              </a:lnSpc>
              <a:spcBef>
                <a:spcPts val="0"/>
              </a:spcBef>
              <a:spcAft>
                <a:spcPts val="0"/>
              </a:spcAft>
            </a:pPr>
            <a:r>
              <a:rPr sz="1400" b="0">
                <a:solidFill>
                  <a:srgbClr val="6B7280"/>
                </a:solidFill>
                <a:latin typeface="Segoe UI"/>
              </a:rPr>
              <a:t>(TWh), 2000 và 2021</a:t>
            </a:r>
          </a:p>
        </p:txBody>
      </p:sp>
      <p:sp>
        <p:nvSpPr>
          <p:cNvPr id="8" name="TextBox 7"/>
          <p:cNvSpPr txBox="1"/>
          <p:nvPr/>
        </p:nvSpPr>
        <p:spPr>
          <a:xfrm>
            <a:off x="8394192" y="3648456"/>
            <a:ext cx="3154680" cy="475488"/>
          </a:xfrm>
          <a:prstGeom prst="rect">
            <a:avLst/>
          </a:prstGeom>
          <a:noFill/>
        </p:spPr>
        <p:txBody>
          <a:bodyPr wrap="none" lIns="50800" rIns="50800" tIns="25400" bIns="25400">
            <a:spAutoFit/>
          </a:bodyPr>
          <a:lstStyle/>
          <a:p>
            <a:pPr algn="ctr">
              <a:lnSpc>
                <a:spcPts val="3224"/>
              </a:lnSpc>
              <a:spcBef>
                <a:spcPts val="0"/>
              </a:spcBef>
              <a:spcAft>
                <a:spcPts val="0"/>
              </a:spcAft>
            </a:pPr>
            <a:r>
              <a:rPr sz="2600" b="1">
                <a:solidFill>
                  <a:srgbClr val="0072B2"/>
                </a:solidFill>
                <a:latin typeface="Segoe UI"/>
              </a:rPr>
              <a:t>64,07%</a:t>
            </a:r>
          </a:p>
        </p:txBody>
      </p:sp>
      <p:sp>
        <p:nvSpPr>
          <p:cNvPr id="9" name="TextBox 8"/>
          <p:cNvSpPr txBox="1"/>
          <p:nvPr/>
        </p:nvSpPr>
        <p:spPr>
          <a:xfrm>
            <a:off x="8394192" y="4169664"/>
            <a:ext cx="3154680" cy="74980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Tỷ trọng thủy điện trong tổng điện tái</a:t>
            </a:r>
          </a:p>
          <a:p>
            <a:pPr algn="ctr">
              <a:lnSpc>
                <a:spcPts val="1736"/>
              </a:lnSpc>
              <a:spcBef>
                <a:spcPts val="0"/>
              </a:spcBef>
              <a:spcAft>
                <a:spcPts val="0"/>
              </a:spcAft>
            </a:pPr>
            <a:r>
              <a:rPr sz="1400" b="0">
                <a:solidFill>
                  <a:srgbClr val="6B7280"/>
                </a:solidFill>
                <a:latin typeface="Segoe UI"/>
              </a:rPr>
              <a:t>tạo ASEAN năm 2021</a:t>
            </a:r>
          </a:p>
        </p:txBody>
      </p:sp>
      <p:sp>
        <p:nvSpPr>
          <p:cNvPr id="10" name="TextBox 9"/>
          <p:cNvSpPr txBox="1"/>
          <p:nvPr/>
        </p:nvSpPr>
        <p:spPr>
          <a:xfrm>
            <a:off x="640080" y="5879592"/>
            <a:ext cx="10927080" cy="466344"/>
          </a:xfrm>
          <a:prstGeom prst="rect">
            <a:avLst/>
          </a:prstGeom>
          <a:noFill/>
        </p:spPr>
        <p:txBody>
          <a:bodyPr wrap="none" lIns="50800" rIns="50800" tIns="25400" bIns="25400">
            <a:spAutoFit/>
          </a:bodyPr>
          <a:lstStyle/>
          <a:p>
            <a:pPr algn="l">
              <a:lnSpc>
                <a:spcPts val="1860"/>
              </a:lnSpc>
              <a:spcBef>
                <a:spcPts val="0"/>
              </a:spcBef>
              <a:spcAft>
                <a:spcPts val="0"/>
              </a:spcAft>
            </a:pPr>
            <a:r>
              <a:rPr sz="1500" b="1">
                <a:solidFill>
                  <a:srgbClr val="374151"/>
                </a:solidFill>
                <a:latin typeface="Segoe UI"/>
              </a:rPr>
              <a:t>Không tính tỷ lệ tăng trưởng từ năm 2000 vì sản lượng gốc bằng 0.</a:t>
            </a:r>
          </a:p>
        </p:txBody>
      </p:sp>
      <p:sp>
        <p:nvSpPr>
          <p:cNvPr id="11" name="TextBox 10"/>
          <p:cNvSpPr txBox="1"/>
          <p:nvPr/>
        </p:nvSpPr>
        <p:spPr>
          <a:xfrm>
            <a:off x="566928" y="6446520"/>
            <a:ext cx="10469880" cy="219456"/>
          </a:xfrm>
          <a:prstGeom prst="rect">
            <a:avLst/>
          </a:prstGeom>
          <a:noFill/>
        </p:spPr>
        <p:txBody>
          <a:bodyPr wrap="none" lIns="50800" rIns="50800" tIns="25400" bIns="25400">
            <a:spAutoFit/>
          </a:bodyPr>
          <a:lstStyle/>
          <a:p>
            <a:pPr algn="l">
              <a:lnSpc>
                <a:spcPts val="1178"/>
              </a:lnSpc>
              <a:spcBef>
                <a:spcPts val="0"/>
              </a:spcBef>
              <a:spcAft>
                <a:spcPts val="0"/>
              </a:spcAft>
            </a:pPr>
            <a:r>
              <a:rPr sz="950" b="0">
                <a:solidFill>
                  <a:srgbClr val="6B7280"/>
                </a:solidFill>
                <a:latin typeface="Segoe UI"/>
              </a:rPr>
              <a:t>Nguồn: Our World in Data, tổng hợp từ Ember và BP · 10 nước ASEAN · 2000–2021</a:t>
            </a:r>
          </a:p>
        </p:txBody>
      </p:sp>
      <p:sp>
        <p:nvSpPr>
          <p:cNvPr id="12" name="TextBox 11"/>
          <p:cNvSpPr txBox="1"/>
          <p:nvPr/>
        </p:nvSpPr>
        <p:spPr>
          <a:xfrm>
            <a:off x="11109960" y="6446520"/>
            <a:ext cx="457200" cy="219456"/>
          </a:xfrm>
          <a:prstGeom prst="rect">
            <a:avLst/>
          </a:prstGeom>
          <a:noFill/>
        </p:spPr>
        <p:txBody>
          <a:bodyPr wrap="none" lIns="50800" rIns="50800" tIns="25400" bIns="25400">
            <a:spAutoFit/>
          </a:bodyPr>
          <a:lstStyle/>
          <a:p>
            <a:pPr algn="r">
              <a:lnSpc>
                <a:spcPts val="1178"/>
              </a:lnSpc>
              <a:spcBef>
                <a:spcPts val="0"/>
              </a:spcBef>
              <a:spcAft>
                <a:spcPts val="0"/>
              </a:spcAft>
            </a:pPr>
            <a:r>
              <a:rPr sz="950" b="0">
                <a:solidFill>
                  <a:srgbClr val="6B7280"/>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0040"/>
            <a:ext cx="11055096" cy="274320"/>
          </a:xfrm>
          <a:prstGeom prst="rect">
            <a:avLst/>
          </a:prstGeom>
          <a:noFill/>
        </p:spPr>
        <p:txBody>
          <a:bodyPr wrap="none" lIns="50800" rIns="50800" tIns="25400" bIns="25400">
            <a:spAutoFit/>
          </a:bodyPr>
          <a:lstStyle/>
          <a:p>
            <a:pPr algn="l">
              <a:lnSpc>
                <a:spcPts val="1488"/>
              </a:lnSpc>
              <a:spcBef>
                <a:spcPts val="0"/>
              </a:spcBef>
              <a:spcAft>
                <a:spcPts val="0"/>
              </a:spcAft>
            </a:pPr>
            <a:r>
              <a:rPr sz="1200" b="1">
                <a:solidFill>
                  <a:srgbClr val="D55E00"/>
                </a:solidFill>
                <a:latin typeface="Segoe UI"/>
              </a:rPr>
              <a:t>SO SÁNH THỨ HẠNG</a:t>
            </a:r>
          </a:p>
        </p:txBody>
      </p:sp>
      <p:sp>
        <p:nvSpPr>
          <p:cNvPr id="3" name="TextBox 2"/>
          <p:cNvSpPr txBox="1"/>
          <p:nvPr/>
        </p:nvSpPr>
        <p:spPr>
          <a:xfrm>
            <a:off x="566928" y="713232"/>
            <a:ext cx="11055096" cy="859536"/>
          </a:xfrm>
          <a:prstGeom prst="rect">
            <a:avLst/>
          </a:prstGeom>
          <a:noFill/>
        </p:spPr>
        <p:txBody>
          <a:bodyPr wrap="none" lIns="50800" rIns="50800" tIns="25400" bIns="25400">
            <a:spAutoFit/>
          </a:bodyPr>
          <a:lstStyle/>
          <a:p>
            <a:pPr algn="l">
              <a:lnSpc>
                <a:spcPts val="3720"/>
              </a:lnSpc>
              <a:spcBef>
                <a:spcPts val="0"/>
              </a:spcBef>
              <a:spcAft>
                <a:spcPts val="0"/>
              </a:spcAft>
            </a:pPr>
            <a:r>
              <a:rPr sz="3000" b="1">
                <a:solidFill>
                  <a:srgbClr val="374151"/>
                </a:solidFill>
                <a:latin typeface="Segoe UI"/>
              </a:rPr>
              <a:t>Thứ hạng các nước thay đổi khi chuyển chỉ tiêu so sánh</a:t>
            </a:r>
          </a:p>
        </p:txBody>
      </p:sp>
      <p:sp>
        <p:nvSpPr>
          <p:cNvPr id="4" name="Rectangle 3"/>
          <p:cNvSpPr/>
          <p:nvPr/>
        </p:nvSpPr>
        <p:spPr>
          <a:xfrm>
            <a:off x="566928" y="1636776"/>
            <a:ext cx="11055096" cy="16459"/>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Biểu đồ" descr="Biểu đồ số liệu điện tái tạo theo phạm vi và chỉ tiêu ghi trong hình."/>
          <p:cNvPicPr>
            <a:picLocks noChangeAspect="1"/>
          </p:cNvPicPr>
          <p:nvPr/>
        </p:nvPicPr>
        <p:blipFill>
          <a:blip r:embed="rId2"/>
          <a:stretch>
            <a:fillRect/>
          </a:stretch>
        </p:blipFill>
        <p:spPr>
          <a:xfrm>
            <a:off x="879856" y="1828800"/>
            <a:ext cx="7055103" cy="3968495"/>
          </a:xfrm>
          <a:prstGeom prst="rect">
            <a:avLst/>
          </a:prstGeom>
        </p:spPr>
      </p:pic>
      <p:sp>
        <p:nvSpPr>
          <p:cNvPr id="6" name="TextBox 5"/>
          <p:cNvSpPr txBox="1"/>
          <p:nvPr/>
        </p:nvSpPr>
        <p:spPr>
          <a:xfrm>
            <a:off x="8394192" y="1865376"/>
            <a:ext cx="3154680" cy="475488"/>
          </a:xfrm>
          <a:prstGeom prst="rect">
            <a:avLst/>
          </a:prstGeom>
          <a:noFill/>
        </p:spPr>
        <p:txBody>
          <a:bodyPr wrap="none" lIns="50800" rIns="50800" tIns="25400" bIns="25400">
            <a:spAutoFit/>
          </a:bodyPr>
          <a:lstStyle/>
          <a:p>
            <a:pPr algn="ctr">
              <a:lnSpc>
                <a:spcPts val="3224"/>
              </a:lnSpc>
              <a:spcBef>
                <a:spcPts val="0"/>
              </a:spcBef>
              <a:spcAft>
                <a:spcPts val="0"/>
              </a:spcAft>
            </a:pPr>
            <a:r>
              <a:rPr sz="2600" b="1">
                <a:solidFill>
                  <a:srgbClr val="009E73"/>
                </a:solidFill>
                <a:latin typeface="Segoe UI"/>
              </a:rPr>
              <a:t>+4 bậc</a:t>
            </a:r>
          </a:p>
        </p:txBody>
      </p:sp>
      <p:sp>
        <p:nvSpPr>
          <p:cNvPr id="7" name="TextBox 6"/>
          <p:cNvSpPr txBox="1"/>
          <p:nvPr/>
        </p:nvSpPr>
        <p:spPr>
          <a:xfrm>
            <a:off x="8394192" y="2386584"/>
            <a:ext cx="3154680" cy="74980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Singapore khi chuyển sang sản lượng</a:t>
            </a:r>
          </a:p>
          <a:p>
            <a:pPr algn="ctr">
              <a:lnSpc>
                <a:spcPts val="1736"/>
              </a:lnSpc>
              <a:spcBef>
                <a:spcPts val="0"/>
              </a:spcBef>
              <a:spcAft>
                <a:spcPts val="0"/>
              </a:spcAft>
            </a:pPr>
            <a:r>
              <a:rPr sz="1400" b="0">
                <a:solidFill>
                  <a:srgbClr val="6B7280"/>
                </a:solidFill>
                <a:latin typeface="Segoe UI"/>
              </a:rPr>
              <a:t>gió và mặt trời</a:t>
            </a:r>
          </a:p>
        </p:txBody>
      </p:sp>
      <p:sp>
        <p:nvSpPr>
          <p:cNvPr id="8" name="TextBox 7"/>
          <p:cNvSpPr txBox="1"/>
          <p:nvPr/>
        </p:nvSpPr>
        <p:spPr>
          <a:xfrm>
            <a:off x="8394192" y="3218688"/>
            <a:ext cx="3154680" cy="475488"/>
          </a:xfrm>
          <a:prstGeom prst="rect">
            <a:avLst/>
          </a:prstGeom>
          <a:noFill/>
        </p:spPr>
        <p:txBody>
          <a:bodyPr wrap="none" lIns="50800" rIns="50800" tIns="25400" bIns="25400">
            <a:spAutoFit/>
          </a:bodyPr>
          <a:lstStyle/>
          <a:p>
            <a:pPr algn="ctr">
              <a:lnSpc>
                <a:spcPts val="3224"/>
              </a:lnSpc>
              <a:spcBef>
                <a:spcPts val="0"/>
              </a:spcBef>
              <a:spcAft>
                <a:spcPts val="0"/>
              </a:spcAft>
            </a:pPr>
            <a:r>
              <a:rPr sz="2600" b="1">
                <a:solidFill>
                  <a:srgbClr val="D55E00"/>
                </a:solidFill>
                <a:latin typeface="Segoe UI"/>
              </a:rPr>
              <a:t>-5 bậc</a:t>
            </a:r>
          </a:p>
        </p:txBody>
      </p:sp>
      <p:sp>
        <p:nvSpPr>
          <p:cNvPr id="9" name="TextBox 8"/>
          <p:cNvSpPr txBox="1"/>
          <p:nvPr/>
        </p:nvSpPr>
        <p:spPr>
          <a:xfrm>
            <a:off x="8394192" y="3739896"/>
            <a:ext cx="3154680" cy="74980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Lào khi chuyển sang sản lượng gió và</a:t>
            </a:r>
          </a:p>
          <a:p>
            <a:pPr algn="ctr">
              <a:lnSpc>
                <a:spcPts val="1736"/>
              </a:lnSpc>
              <a:spcBef>
                <a:spcPts val="0"/>
              </a:spcBef>
              <a:spcAft>
                <a:spcPts val="0"/>
              </a:spcAft>
            </a:pPr>
            <a:r>
              <a:rPr sz="1400" b="0">
                <a:solidFill>
                  <a:srgbClr val="6B7280"/>
                </a:solidFill>
                <a:latin typeface="Segoe UI"/>
              </a:rPr>
              <a:t>mặt trời</a:t>
            </a:r>
          </a:p>
        </p:txBody>
      </p:sp>
      <p:sp>
        <p:nvSpPr>
          <p:cNvPr id="10" name="TextBox 9"/>
          <p:cNvSpPr txBox="1"/>
          <p:nvPr/>
        </p:nvSpPr>
        <p:spPr>
          <a:xfrm>
            <a:off x="8394192" y="4572000"/>
            <a:ext cx="3154680" cy="475488"/>
          </a:xfrm>
          <a:prstGeom prst="rect">
            <a:avLst/>
          </a:prstGeom>
          <a:noFill/>
        </p:spPr>
        <p:txBody>
          <a:bodyPr wrap="none" lIns="50800" rIns="50800" tIns="25400" bIns="25400">
            <a:spAutoFit/>
          </a:bodyPr>
          <a:lstStyle/>
          <a:p>
            <a:pPr algn="ctr">
              <a:lnSpc>
                <a:spcPts val="3224"/>
              </a:lnSpc>
              <a:spcBef>
                <a:spcPts val="0"/>
              </a:spcBef>
              <a:spcAft>
                <a:spcPts val="0"/>
              </a:spcAft>
            </a:pPr>
            <a:r>
              <a:rPr sz="2600" b="1">
                <a:solidFill>
                  <a:srgbClr val="0072B2"/>
                </a:solidFill>
                <a:latin typeface="Segoe UI"/>
              </a:rPr>
              <a:t>1</a:t>
            </a:r>
          </a:p>
        </p:txBody>
      </p:sp>
      <p:sp>
        <p:nvSpPr>
          <p:cNvPr id="11" name="TextBox 10"/>
          <p:cNvSpPr txBox="1"/>
          <p:nvPr/>
        </p:nvSpPr>
        <p:spPr>
          <a:xfrm>
            <a:off x="8394192" y="5093208"/>
            <a:ext cx="3154680" cy="74980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Hạng của Việt Nam theo cả hai chỉ</a:t>
            </a:r>
          </a:p>
          <a:p>
            <a:pPr algn="ctr">
              <a:lnSpc>
                <a:spcPts val="1736"/>
              </a:lnSpc>
              <a:spcBef>
                <a:spcPts val="0"/>
              </a:spcBef>
              <a:spcAft>
                <a:spcPts val="0"/>
              </a:spcAft>
            </a:pPr>
            <a:r>
              <a:rPr sz="1400" b="0">
                <a:solidFill>
                  <a:srgbClr val="6B7280"/>
                </a:solidFill>
                <a:latin typeface="Segoe UI"/>
              </a:rPr>
              <a:t>tiêu năm 2021</a:t>
            </a:r>
          </a:p>
        </p:txBody>
      </p:sp>
      <p:sp>
        <p:nvSpPr>
          <p:cNvPr id="12" name="TextBox 11"/>
          <p:cNvSpPr txBox="1"/>
          <p:nvPr/>
        </p:nvSpPr>
        <p:spPr>
          <a:xfrm>
            <a:off x="640080" y="5879592"/>
            <a:ext cx="10927080" cy="466344"/>
          </a:xfrm>
          <a:prstGeom prst="rect">
            <a:avLst/>
          </a:prstGeom>
          <a:noFill/>
        </p:spPr>
        <p:txBody>
          <a:bodyPr wrap="none" lIns="50800" rIns="50800" tIns="25400" bIns="25400">
            <a:spAutoFit/>
          </a:bodyPr>
          <a:lstStyle/>
          <a:p>
            <a:pPr algn="l">
              <a:lnSpc>
                <a:spcPts val="1860"/>
              </a:lnSpc>
              <a:spcBef>
                <a:spcPts val="0"/>
              </a:spcBef>
              <a:spcAft>
                <a:spcPts val="0"/>
              </a:spcAft>
            </a:pPr>
            <a:r>
              <a:rPr sz="1500" b="1">
                <a:solidFill>
                  <a:srgbClr val="374151"/>
                </a:solidFill>
                <a:latin typeface="Segoe UI"/>
              </a:rPr>
              <a:t>Mỗi bảng xếp hạng cần ghi rõ chỉ tiêu, năm và tập quốc gia được so sánh.</a:t>
            </a:r>
          </a:p>
        </p:txBody>
      </p:sp>
      <p:sp>
        <p:nvSpPr>
          <p:cNvPr id="13" name="TextBox 12"/>
          <p:cNvSpPr txBox="1"/>
          <p:nvPr/>
        </p:nvSpPr>
        <p:spPr>
          <a:xfrm>
            <a:off x="566928" y="6446520"/>
            <a:ext cx="10469880" cy="219456"/>
          </a:xfrm>
          <a:prstGeom prst="rect">
            <a:avLst/>
          </a:prstGeom>
          <a:noFill/>
        </p:spPr>
        <p:txBody>
          <a:bodyPr wrap="none" lIns="50800" rIns="50800" tIns="25400" bIns="25400">
            <a:spAutoFit/>
          </a:bodyPr>
          <a:lstStyle/>
          <a:p>
            <a:pPr algn="l">
              <a:lnSpc>
                <a:spcPts val="1178"/>
              </a:lnSpc>
              <a:spcBef>
                <a:spcPts val="0"/>
              </a:spcBef>
              <a:spcAft>
                <a:spcPts val="0"/>
              </a:spcAft>
            </a:pPr>
            <a:r>
              <a:rPr sz="950" b="0">
                <a:solidFill>
                  <a:srgbClr val="6B7280"/>
                </a:solidFill>
                <a:latin typeface="Segoe UI"/>
              </a:rPr>
              <a:t>Nguồn: Our World in Data, tổng hợp từ Ember và BP · 10 nước ASEAN · 2000–2021</a:t>
            </a:r>
          </a:p>
        </p:txBody>
      </p:sp>
      <p:sp>
        <p:nvSpPr>
          <p:cNvPr id="14" name="TextBox 13"/>
          <p:cNvSpPr txBox="1"/>
          <p:nvPr/>
        </p:nvSpPr>
        <p:spPr>
          <a:xfrm>
            <a:off x="11109960" y="6446520"/>
            <a:ext cx="457200" cy="219456"/>
          </a:xfrm>
          <a:prstGeom prst="rect">
            <a:avLst/>
          </a:prstGeom>
          <a:noFill/>
        </p:spPr>
        <p:txBody>
          <a:bodyPr wrap="none" lIns="50800" rIns="50800" tIns="25400" bIns="25400">
            <a:spAutoFit/>
          </a:bodyPr>
          <a:lstStyle/>
          <a:p>
            <a:pPr algn="r">
              <a:lnSpc>
                <a:spcPts val="1178"/>
              </a:lnSpc>
              <a:spcBef>
                <a:spcPts val="0"/>
              </a:spcBef>
              <a:spcAft>
                <a:spcPts val="0"/>
              </a:spcAft>
            </a:pPr>
            <a:r>
              <a:rPr sz="950" b="0">
                <a:solidFill>
                  <a:srgbClr val="6B7280"/>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0040"/>
            <a:ext cx="11055096" cy="274320"/>
          </a:xfrm>
          <a:prstGeom prst="rect">
            <a:avLst/>
          </a:prstGeom>
          <a:noFill/>
        </p:spPr>
        <p:txBody>
          <a:bodyPr wrap="none" lIns="50800" rIns="50800" tIns="25400" bIns="25400">
            <a:spAutoFit/>
          </a:bodyPr>
          <a:lstStyle/>
          <a:p>
            <a:pPr algn="l">
              <a:lnSpc>
                <a:spcPts val="1488"/>
              </a:lnSpc>
              <a:spcBef>
                <a:spcPts val="0"/>
              </a:spcBef>
              <a:spcAft>
                <a:spcPts val="0"/>
              </a:spcAft>
            </a:pPr>
            <a:r>
              <a:rPr sz="1200" b="1">
                <a:solidFill>
                  <a:srgbClr val="D55E00"/>
                </a:solidFill>
                <a:latin typeface="Segoe UI"/>
              </a:rPr>
              <a:t>ĐÓNG GÓP CỦA VIỆT NAM</a:t>
            </a:r>
          </a:p>
        </p:txBody>
      </p:sp>
      <p:sp>
        <p:nvSpPr>
          <p:cNvPr id="3" name="TextBox 2"/>
          <p:cNvSpPr txBox="1"/>
          <p:nvPr/>
        </p:nvSpPr>
        <p:spPr>
          <a:xfrm>
            <a:off x="566928" y="713232"/>
            <a:ext cx="11055096" cy="859536"/>
          </a:xfrm>
          <a:prstGeom prst="rect">
            <a:avLst/>
          </a:prstGeom>
          <a:noFill/>
        </p:spPr>
        <p:txBody>
          <a:bodyPr wrap="none" lIns="50800" rIns="50800" tIns="25400" bIns="25400">
            <a:spAutoFit/>
          </a:bodyPr>
          <a:lstStyle/>
          <a:p>
            <a:pPr algn="l">
              <a:lnSpc>
                <a:spcPts val="3224"/>
              </a:lnSpc>
              <a:spcBef>
                <a:spcPts val="0"/>
              </a:spcBef>
              <a:spcAft>
                <a:spcPts val="0"/>
              </a:spcAft>
            </a:pPr>
            <a:r>
              <a:rPr sz="2600" b="1">
                <a:solidFill>
                  <a:srgbClr val="374151"/>
                </a:solidFill>
                <a:latin typeface="Segoe UI"/>
              </a:rPr>
              <a:t>Việt Nam đóng góp khoảng hai phần ba mức tăng dương của khu vực</a:t>
            </a:r>
          </a:p>
        </p:txBody>
      </p:sp>
      <p:sp>
        <p:nvSpPr>
          <p:cNvPr id="4" name="Rectangle 3"/>
          <p:cNvSpPr/>
          <p:nvPr/>
        </p:nvSpPr>
        <p:spPr>
          <a:xfrm>
            <a:off x="566928" y="1636776"/>
            <a:ext cx="11055096" cy="16459"/>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Biểu đồ" descr="Biểu đồ số liệu điện tái tạo theo phạm vi và chỉ tiêu ghi trong hình."/>
          <p:cNvPicPr>
            <a:picLocks noChangeAspect="1"/>
          </p:cNvPicPr>
          <p:nvPr/>
        </p:nvPicPr>
        <p:blipFill>
          <a:blip r:embed="rId2"/>
          <a:stretch>
            <a:fillRect/>
          </a:stretch>
        </p:blipFill>
        <p:spPr>
          <a:xfrm>
            <a:off x="879856" y="1828800"/>
            <a:ext cx="7055103" cy="3968495"/>
          </a:xfrm>
          <a:prstGeom prst="rect">
            <a:avLst/>
          </a:prstGeom>
        </p:spPr>
      </p:pic>
      <p:sp>
        <p:nvSpPr>
          <p:cNvPr id="6" name="TextBox 5"/>
          <p:cNvSpPr txBox="1"/>
          <p:nvPr/>
        </p:nvSpPr>
        <p:spPr>
          <a:xfrm>
            <a:off x="8394192" y="1865376"/>
            <a:ext cx="3154680" cy="475488"/>
          </a:xfrm>
          <a:prstGeom prst="rect">
            <a:avLst/>
          </a:prstGeom>
          <a:noFill/>
        </p:spPr>
        <p:txBody>
          <a:bodyPr wrap="none" lIns="50800" rIns="50800" tIns="25400" bIns="25400">
            <a:spAutoFit/>
          </a:bodyPr>
          <a:lstStyle/>
          <a:p>
            <a:pPr algn="ctr">
              <a:lnSpc>
                <a:spcPts val="3224"/>
              </a:lnSpc>
              <a:spcBef>
                <a:spcPts val="0"/>
              </a:spcBef>
              <a:spcAft>
                <a:spcPts val="0"/>
              </a:spcAft>
            </a:pPr>
            <a:r>
              <a:rPr sz="2600" b="1">
                <a:solidFill>
                  <a:srgbClr val="D55E00"/>
                </a:solidFill>
                <a:latin typeface="Segoe UI"/>
              </a:rPr>
              <a:t>65,90%</a:t>
            </a:r>
          </a:p>
        </p:txBody>
      </p:sp>
      <p:sp>
        <p:nvSpPr>
          <p:cNvPr id="7" name="TextBox 6"/>
          <p:cNvSpPr txBox="1"/>
          <p:nvPr/>
        </p:nvSpPr>
        <p:spPr>
          <a:xfrm>
            <a:off x="8394192" y="2386584"/>
            <a:ext cx="3154680" cy="74980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Tỷ trọng sản lượng gió và mặt trời</a:t>
            </a:r>
          </a:p>
          <a:p>
            <a:pPr algn="ctr">
              <a:lnSpc>
                <a:spcPts val="1736"/>
              </a:lnSpc>
              <a:spcBef>
                <a:spcPts val="0"/>
              </a:spcBef>
              <a:spcAft>
                <a:spcPts val="0"/>
              </a:spcAft>
            </a:pPr>
            <a:r>
              <a:rPr sz="1400" b="0">
                <a:solidFill>
                  <a:srgbClr val="6B7280"/>
                </a:solidFill>
                <a:latin typeface="Segoe UI"/>
              </a:rPr>
              <a:t>ASEAN năm 2021</a:t>
            </a:r>
          </a:p>
        </p:txBody>
      </p:sp>
      <p:sp>
        <p:nvSpPr>
          <p:cNvPr id="8" name="TextBox 7"/>
          <p:cNvSpPr txBox="1"/>
          <p:nvPr/>
        </p:nvSpPr>
        <p:spPr>
          <a:xfrm>
            <a:off x="8394192" y="3218688"/>
            <a:ext cx="3154680" cy="475488"/>
          </a:xfrm>
          <a:prstGeom prst="rect">
            <a:avLst/>
          </a:prstGeom>
          <a:noFill/>
        </p:spPr>
        <p:txBody>
          <a:bodyPr wrap="none" lIns="50800" rIns="50800" tIns="25400" bIns="25400">
            <a:spAutoFit/>
          </a:bodyPr>
          <a:lstStyle/>
          <a:p>
            <a:pPr algn="ctr">
              <a:lnSpc>
                <a:spcPts val="3224"/>
              </a:lnSpc>
              <a:spcBef>
                <a:spcPts val="0"/>
              </a:spcBef>
              <a:spcAft>
                <a:spcPts val="0"/>
              </a:spcAft>
            </a:pPr>
            <a:r>
              <a:rPr sz="2600" b="1">
                <a:solidFill>
                  <a:srgbClr val="D55E00"/>
                </a:solidFill>
                <a:latin typeface="Segoe UI"/>
              </a:rPr>
              <a:t>65,99%</a:t>
            </a:r>
          </a:p>
        </p:txBody>
      </p:sp>
      <p:sp>
        <p:nvSpPr>
          <p:cNvPr id="9" name="TextBox 8"/>
          <p:cNvSpPr txBox="1"/>
          <p:nvPr/>
        </p:nvSpPr>
        <p:spPr>
          <a:xfrm>
            <a:off x="8394192" y="3739896"/>
            <a:ext cx="3154680" cy="74980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Đóng góp tổng mức tăng dương gió</a:t>
            </a:r>
          </a:p>
          <a:p>
            <a:pPr algn="ctr">
              <a:lnSpc>
                <a:spcPts val="1736"/>
              </a:lnSpc>
              <a:spcBef>
                <a:spcPts val="0"/>
              </a:spcBef>
              <a:spcAft>
                <a:spcPts val="0"/>
              </a:spcAft>
            </a:pPr>
            <a:r>
              <a:rPr sz="1400" b="0">
                <a:solidFill>
                  <a:srgbClr val="6B7280"/>
                </a:solidFill>
                <a:latin typeface="Segoe UI"/>
              </a:rPr>
              <a:t>và mặt trời, 2010–2021</a:t>
            </a:r>
          </a:p>
        </p:txBody>
      </p:sp>
      <p:sp>
        <p:nvSpPr>
          <p:cNvPr id="10" name="TextBox 9"/>
          <p:cNvSpPr txBox="1"/>
          <p:nvPr/>
        </p:nvSpPr>
        <p:spPr>
          <a:xfrm>
            <a:off x="8394192" y="4572000"/>
            <a:ext cx="3154680" cy="475488"/>
          </a:xfrm>
          <a:prstGeom prst="rect">
            <a:avLst/>
          </a:prstGeom>
          <a:noFill/>
        </p:spPr>
        <p:txBody>
          <a:bodyPr wrap="none" lIns="50800" rIns="50800" tIns="25400" bIns="25400">
            <a:spAutoFit/>
          </a:bodyPr>
          <a:lstStyle/>
          <a:p>
            <a:pPr algn="ctr">
              <a:lnSpc>
                <a:spcPts val="3224"/>
              </a:lnSpc>
              <a:spcBef>
                <a:spcPts val="0"/>
              </a:spcBef>
              <a:spcAft>
                <a:spcPts val="0"/>
              </a:spcAft>
            </a:pPr>
            <a:r>
              <a:rPr sz="2600" b="1">
                <a:solidFill>
                  <a:srgbClr val="0072B2"/>
                </a:solidFill>
                <a:latin typeface="Segoe UI"/>
              </a:rPr>
              <a:t>17</a:t>
            </a:r>
          </a:p>
        </p:txBody>
      </p:sp>
      <p:sp>
        <p:nvSpPr>
          <p:cNvPr id="11" name="TextBox 10"/>
          <p:cNvSpPr txBox="1"/>
          <p:nvPr/>
        </p:nvSpPr>
        <p:spPr>
          <a:xfrm>
            <a:off x="8394192" y="5093208"/>
            <a:ext cx="3154680" cy="74980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Hạng thế giới về sản lượng gió và mặt</a:t>
            </a:r>
          </a:p>
          <a:p>
            <a:pPr algn="ctr">
              <a:lnSpc>
                <a:spcPts val="1736"/>
              </a:lnSpc>
              <a:spcBef>
                <a:spcPts val="0"/>
              </a:spcBef>
              <a:spcAft>
                <a:spcPts val="0"/>
              </a:spcAft>
            </a:pPr>
            <a:r>
              <a:rPr sz="1400" b="0">
                <a:solidFill>
                  <a:srgbClr val="6B7280"/>
                </a:solidFill>
                <a:latin typeface="Segoe UI"/>
              </a:rPr>
              <a:t>trời năm 2021</a:t>
            </a:r>
          </a:p>
        </p:txBody>
      </p:sp>
      <p:sp>
        <p:nvSpPr>
          <p:cNvPr id="12" name="TextBox 11"/>
          <p:cNvSpPr txBox="1"/>
          <p:nvPr/>
        </p:nvSpPr>
        <p:spPr>
          <a:xfrm>
            <a:off x="640080" y="5879592"/>
            <a:ext cx="10927080" cy="466344"/>
          </a:xfrm>
          <a:prstGeom prst="rect">
            <a:avLst/>
          </a:prstGeom>
          <a:noFill/>
        </p:spPr>
        <p:txBody>
          <a:bodyPr wrap="none" lIns="50800" rIns="50800" tIns="25400" bIns="25400">
            <a:spAutoFit/>
          </a:bodyPr>
          <a:lstStyle/>
          <a:p>
            <a:pPr algn="l">
              <a:lnSpc>
                <a:spcPts val="1860"/>
              </a:lnSpc>
              <a:spcBef>
                <a:spcPts val="0"/>
              </a:spcBef>
              <a:spcAft>
                <a:spcPts val="0"/>
              </a:spcAft>
            </a:pPr>
            <a:r>
              <a:rPr sz="1500" b="1">
                <a:solidFill>
                  <a:srgbClr val="374151"/>
                </a:solidFill>
                <a:latin typeface="Segoe UI"/>
              </a:rPr>
              <a:t>Các nước còn lại đóng góp khoảng một phần ba; dữ liệu chưa xác định nguyên nhân.</a:t>
            </a:r>
          </a:p>
        </p:txBody>
      </p:sp>
      <p:sp>
        <p:nvSpPr>
          <p:cNvPr id="13" name="TextBox 12"/>
          <p:cNvSpPr txBox="1"/>
          <p:nvPr/>
        </p:nvSpPr>
        <p:spPr>
          <a:xfrm>
            <a:off x="566928" y="6446520"/>
            <a:ext cx="10469880" cy="219456"/>
          </a:xfrm>
          <a:prstGeom prst="rect">
            <a:avLst/>
          </a:prstGeom>
          <a:noFill/>
        </p:spPr>
        <p:txBody>
          <a:bodyPr wrap="none" lIns="50800" rIns="50800" tIns="25400" bIns="25400">
            <a:spAutoFit/>
          </a:bodyPr>
          <a:lstStyle/>
          <a:p>
            <a:pPr algn="l">
              <a:lnSpc>
                <a:spcPts val="1178"/>
              </a:lnSpc>
              <a:spcBef>
                <a:spcPts val="0"/>
              </a:spcBef>
              <a:spcAft>
                <a:spcPts val="0"/>
              </a:spcAft>
            </a:pPr>
            <a:r>
              <a:rPr sz="950" b="0">
                <a:solidFill>
                  <a:srgbClr val="6B7280"/>
                </a:solidFill>
                <a:latin typeface="Segoe UI"/>
              </a:rPr>
              <a:t>Nguồn: Our World in Data, tổng hợp từ Ember và BP · 10 nước ASEAN · 2000–2021</a:t>
            </a:r>
          </a:p>
        </p:txBody>
      </p:sp>
      <p:sp>
        <p:nvSpPr>
          <p:cNvPr id="14" name="TextBox 13"/>
          <p:cNvSpPr txBox="1"/>
          <p:nvPr/>
        </p:nvSpPr>
        <p:spPr>
          <a:xfrm>
            <a:off x="11109960" y="6446520"/>
            <a:ext cx="457200" cy="219456"/>
          </a:xfrm>
          <a:prstGeom prst="rect">
            <a:avLst/>
          </a:prstGeom>
          <a:noFill/>
        </p:spPr>
        <p:txBody>
          <a:bodyPr wrap="none" lIns="50800" rIns="50800" tIns="25400" bIns="25400">
            <a:spAutoFit/>
          </a:bodyPr>
          <a:lstStyle/>
          <a:p>
            <a:pPr algn="r">
              <a:lnSpc>
                <a:spcPts val="1178"/>
              </a:lnSpc>
              <a:spcBef>
                <a:spcPts val="0"/>
              </a:spcBef>
              <a:spcAft>
                <a:spcPts val="0"/>
              </a:spcAft>
            </a:pPr>
            <a:r>
              <a:rPr sz="950" b="0">
                <a:solidFill>
                  <a:srgbClr val="6B7280"/>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0040"/>
            <a:ext cx="11055096" cy="274320"/>
          </a:xfrm>
          <a:prstGeom prst="rect">
            <a:avLst/>
          </a:prstGeom>
          <a:noFill/>
        </p:spPr>
        <p:txBody>
          <a:bodyPr wrap="none" lIns="50800" rIns="50800" tIns="25400" bIns="25400">
            <a:spAutoFit/>
          </a:bodyPr>
          <a:lstStyle/>
          <a:p>
            <a:pPr algn="l">
              <a:lnSpc>
                <a:spcPts val="1488"/>
              </a:lnSpc>
              <a:spcBef>
                <a:spcPts val="0"/>
              </a:spcBef>
              <a:spcAft>
                <a:spcPts val="0"/>
              </a:spcAft>
            </a:pPr>
            <a:r>
              <a:rPr sz="1200" b="1">
                <a:solidFill>
                  <a:srgbClr val="D55E00"/>
                </a:solidFill>
                <a:latin typeface="Segoe UI"/>
              </a:rPr>
              <a:t>MỨC TẬP TRUNG SẢN LƯỢNG</a:t>
            </a:r>
          </a:p>
        </p:txBody>
      </p:sp>
      <p:sp>
        <p:nvSpPr>
          <p:cNvPr id="3" name="TextBox 2"/>
          <p:cNvSpPr txBox="1"/>
          <p:nvPr/>
        </p:nvSpPr>
        <p:spPr>
          <a:xfrm>
            <a:off x="566928" y="713232"/>
            <a:ext cx="11055096" cy="859536"/>
          </a:xfrm>
          <a:prstGeom prst="rect">
            <a:avLst/>
          </a:prstGeom>
          <a:noFill/>
        </p:spPr>
        <p:txBody>
          <a:bodyPr wrap="none" lIns="50800" rIns="50800" tIns="25400" bIns="25400">
            <a:spAutoFit/>
          </a:bodyPr>
          <a:lstStyle/>
          <a:p>
            <a:pPr algn="l">
              <a:lnSpc>
                <a:spcPts val="3720"/>
              </a:lnSpc>
              <a:spcBef>
                <a:spcPts val="0"/>
              </a:spcBef>
              <a:spcAft>
                <a:spcPts val="0"/>
              </a:spcAft>
            </a:pPr>
            <a:r>
              <a:rPr sz="3000" b="1">
                <a:solidFill>
                  <a:srgbClr val="374151"/>
                </a:solidFill>
                <a:latin typeface="Segoe UI"/>
              </a:rPr>
              <a:t>Sản lượng gió và mặt trời tập trung ở ba nước dẫn đầu</a:t>
            </a:r>
          </a:p>
        </p:txBody>
      </p:sp>
      <p:sp>
        <p:nvSpPr>
          <p:cNvPr id="4" name="Rectangle 3"/>
          <p:cNvSpPr/>
          <p:nvPr/>
        </p:nvSpPr>
        <p:spPr>
          <a:xfrm>
            <a:off x="566928" y="1636776"/>
            <a:ext cx="11055096" cy="16459"/>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Biểu đồ" descr="Biểu đồ số liệu điện tái tạo theo phạm vi và chỉ tiêu ghi trong hình."/>
          <p:cNvPicPr>
            <a:picLocks noChangeAspect="1"/>
          </p:cNvPicPr>
          <p:nvPr/>
        </p:nvPicPr>
        <p:blipFill>
          <a:blip r:embed="rId2"/>
          <a:stretch>
            <a:fillRect/>
          </a:stretch>
        </p:blipFill>
        <p:spPr>
          <a:xfrm>
            <a:off x="879856" y="1828800"/>
            <a:ext cx="7055103" cy="3968495"/>
          </a:xfrm>
          <a:prstGeom prst="rect">
            <a:avLst/>
          </a:prstGeom>
        </p:spPr>
      </p:pic>
      <p:sp>
        <p:nvSpPr>
          <p:cNvPr id="6" name="TextBox 5"/>
          <p:cNvSpPr txBox="1"/>
          <p:nvPr/>
        </p:nvSpPr>
        <p:spPr>
          <a:xfrm>
            <a:off x="8394192" y="1865376"/>
            <a:ext cx="3154680" cy="475488"/>
          </a:xfrm>
          <a:prstGeom prst="rect">
            <a:avLst/>
          </a:prstGeom>
          <a:noFill/>
        </p:spPr>
        <p:txBody>
          <a:bodyPr wrap="none" lIns="50800" rIns="50800" tIns="25400" bIns="25400">
            <a:spAutoFit/>
          </a:bodyPr>
          <a:lstStyle/>
          <a:p>
            <a:pPr algn="ctr">
              <a:lnSpc>
                <a:spcPts val="3224"/>
              </a:lnSpc>
              <a:spcBef>
                <a:spcPts val="0"/>
              </a:spcBef>
              <a:spcAft>
                <a:spcPts val="0"/>
              </a:spcAft>
            </a:pPr>
            <a:r>
              <a:rPr sz="2600" b="1">
                <a:solidFill>
                  <a:srgbClr val="D55E00"/>
                </a:solidFill>
                <a:latin typeface="Segoe UI"/>
              </a:rPr>
              <a:t>67,10% → 92,25%</a:t>
            </a:r>
          </a:p>
        </p:txBody>
      </p:sp>
      <p:sp>
        <p:nvSpPr>
          <p:cNvPr id="7" name="TextBox 6"/>
          <p:cNvSpPr txBox="1"/>
          <p:nvPr/>
        </p:nvSpPr>
        <p:spPr>
          <a:xfrm>
            <a:off x="8394192" y="2386584"/>
            <a:ext cx="3154680" cy="74980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Tỷ trọng ba nước dẫn đầu: tổng điện</a:t>
            </a:r>
          </a:p>
          <a:p>
            <a:pPr algn="ctr">
              <a:lnSpc>
                <a:spcPts val="1736"/>
              </a:lnSpc>
              <a:spcBef>
                <a:spcPts val="0"/>
              </a:spcBef>
              <a:spcAft>
                <a:spcPts val="0"/>
              </a:spcAft>
            </a:pPr>
            <a:r>
              <a:rPr sz="1400" b="0">
                <a:solidFill>
                  <a:srgbClr val="6B7280"/>
                </a:solidFill>
                <a:latin typeface="Segoe UI"/>
              </a:rPr>
              <a:t>tái tạo → gió và mặt trời</a:t>
            </a:r>
          </a:p>
        </p:txBody>
      </p:sp>
      <p:sp>
        <p:nvSpPr>
          <p:cNvPr id="8" name="TextBox 7"/>
          <p:cNvSpPr txBox="1"/>
          <p:nvPr/>
        </p:nvSpPr>
        <p:spPr>
          <a:xfrm>
            <a:off x="8394192" y="3218688"/>
            <a:ext cx="3154680" cy="475488"/>
          </a:xfrm>
          <a:prstGeom prst="rect">
            <a:avLst/>
          </a:prstGeom>
          <a:noFill/>
        </p:spPr>
        <p:txBody>
          <a:bodyPr wrap="none" lIns="50800" rIns="50800" tIns="25400" bIns="25400">
            <a:spAutoFit/>
          </a:bodyPr>
          <a:lstStyle/>
          <a:p>
            <a:pPr algn="ctr">
              <a:lnSpc>
                <a:spcPts val="3224"/>
              </a:lnSpc>
              <a:spcBef>
                <a:spcPts val="0"/>
              </a:spcBef>
              <a:spcAft>
                <a:spcPts val="0"/>
              </a:spcAft>
            </a:pPr>
            <a:r>
              <a:rPr sz="2600" b="1">
                <a:solidFill>
                  <a:srgbClr val="0072B2"/>
                </a:solidFill>
                <a:latin typeface="Segoe UI"/>
              </a:rPr>
              <a:t>0,208 → 0,480</a:t>
            </a:r>
          </a:p>
        </p:txBody>
      </p:sp>
      <p:sp>
        <p:nvSpPr>
          <p:cNvPr id="9" name="TextBox 8"/>
          <p:cNvSpPr txBox="1"/>
          <p:nvPr/>
        </p:nvSpPr>
        <p:spPr>
          <a:xfrm>
            <a:off x="8394192" y="3739896"/>
            <a:ext cx="3154680" cy="74980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Chỉ số Herfindahl–Hirschman: tổng</a:t>
            </a:r>
          </a:p>
          <a:p>
            <a:pPr algn="ctr">
              <a:lnSpc>
                <a:spcPts val="1736"/>
              </a:lnSpc>
              <a:spcBef>
                <a:spcPts val="0"/>
              </a:spcBef>
              <a:spcAft>
                <a:spcPts val="0"/>
              </a:spcAft>
            </a:pPr>
            <a:r>
              <a:rPr sz="1400" b="0">
                <a:solidFill>
                  <a:srgbClr val="6B7280"/>
                </a:solidFill>
                <a:latin typeface="Segoe UI"/>
              </a:rPr>
              <a:t>bình phương tỷ trọng các nước</a:t>
            </a:r>
          </a:p>
        </p:txBody>
      </p:sp>
      <p:sp>
        <p:nvSpPr>
          <p:cNvPr id="10" name="TextBox 9"/>
          <p:cNvSpPr txBox="1"/>
          <p:nvPr/>
        </p:nvSpPr>
        <p:spPr>
          <a:xfrm>
            <a:off x="8394192" y="4572000"/>
            <a:ext cx="3154680" cy="475488"/>
          </a:xfrm>
          <a:prstGeom prst="rect">
            <a:avLst/>
          </a:prstGeom>
          <a:noFill/>
        </p:spPr>
        <p:txBody>
          <a:bodyPr wrap="none" lIns="50800" rIns="50800" tIns="25400" bIns="25400">
            <a:spAutoFit/>
          </a:bodyPr>
          <a:lstStyle/>
          <a:p>
            <a:pPr algn="ctr">
              <a:lnSpc>
                <a:spcPts val="3224"/>
              </a:lnSpc>
              <a:spcBef>
                <a:spcPts val="0"/>
              </a:spcBef>
              <a:spcAft>
                <a:spcPts val="0"/>
              </a:spcAft>
            </a:pPr>
            <a:r>
              <a:rPr sz="2600" b="1">
                <a:solidFill>
                  <a:srgbClr val="0072B2"/>
                </a:solidFill>
                <a:latin typeface="Segoe UI"/>
              </a:rPr>
              <a:t>0,529 → 0,771</a:t>
            </a:r>
          </a:p>
        </p:txBody>
      </p:sp>
      <p:sp>
        <p:nvSpPr>
          <p:cNvPr id="11" name="TextBox 10"/>
          <p:cNvSpPr txBox="1"/>
          <p:nvPr/>
        </p:nvSpPr>
        <p:spPr>
          <a:xfrm>
            <a:off x="8394192" y="5093208"/>
            <a:ext cx="3154680" cy="749808"/>
          </a:xfrm>
          <a:prstGeom prst="rect">
            <a:avLst/>
          </a:prstGeom>
          <a:noFill/>
        </p:spPr>
        <p:txBody>
          <a:bodyPr wrap="none" lIns="50800" rIns="50800" tIns="25400" bIns="25400">
            <a:spAutoFit/>
          </a:bodyPr>
          <a:lstStyle/>
          <a:p>
            <a:pPr algn="ctr">
              <a:lnSpc>
                <a:spcPts val="1736"/>
              </a:lnSpc>
              <a:spcBef>
                <a:spcPts val="0"/>
              </a:spcBef>
              <a:spcAft>
                <a:spcPts val="0"/>
              </a:spcAft>
            </a:pPr>
            <a:r>
              <a:rPr sz="1400" b="0">
                <a:solidFill>
                  <a:srgbClr val="6B7280"/>
                </a:solidFill>
                <a:latin typeface="Segoe UI"/>
              </a:rPr>
              <a:t>Hệ số Gini: mức chênh lệch phân bố</a:t>
            </a:r>
          </a:p>
          <a:p>
            <a:pPr algn="ctr">
              <a:lnSpc>
                <a:spcPts val="1736"/>
              </a:lnSpc>
              <a:spcBef>
                <a:spcPts val="0"/>
              </a:spcBef>
              <a:spcAft>
                <a:spcPts val="0"/>
              </a:spcAft>
            </a:pPr>
            <a:r>
              <a:rPr sz="1400" b="0">
                <a:solidFill>
                  <a:srgbClr val="6B7280"/>
                </a:solidFill>
                <a:latin typeface="Segoe UI"/>
              </a:rPr>
              <a:t>sản lượng giữa các nước</a:t>
            </a:r>
          </a:p>
        </p:txBody>
      </p:sp>
      <p:sp>
        <p:nvSpPr>
          <p:cNvPr id="12" name="TextBox 11"/>
          <p:cNvSpPr txBox="1"/>
          <p:nvPr/>
        </p:nvSpPr>
        <p:spPr>
          <a:xfrm>
            <a:off x="640080" y="5879592"/>
            <a:ext cx="10927080" cy="466344"/>
          </a:xfrm>
          <a:prstGeom prst="rect">
            <a:avLst/>
          </a:prstGeom>
          <a:noFill/>
        </p:spPr>
        <p:txBody>
          <a:bodyPr wrap="none" lIns="50800" rIns="50800" tIns="25400" bIns="25400">
            <a:spAutoFit/>
          </a:bodyPr>
          <a:lstStyle/>
          <a:p>
            <a:pPr algn="l">
              <a:lnSpc>
                <a:spcPts val="1860"/>
              </a:lnSpc>
              <a:spcBef>
                <a:spcPts val="0"/>
              </a:spcBef>
              <a:spcAft>
                <a:spcPts val="0"/>
              </a:spcAft>
            </a:pPr>
            <a:r>
              <a:rPr sz="1500" b="1">
                <a:solidFill>
                  <a:srgbClr val="374151"/>
                </a:solidFill>
                <a:latin typeface="Segoe UI"/>
              </a:rPr>
              <a:t>Năm 2021, gió và mặt trời tập trung hơn tổng điện tái tạo theo các chỉ số này.</a:t>
            </a:r>
          </a:p>
        </p:txBody>
      </p:sp>
      <p:sp>
        <p:nvSpPr>
          <p:cNvPr id="13" name="TextBox 12"/>
          <p:cNvSpPr txBox="1"/>
          <p:nvPr/>
        </p:nvSpPr>
        <p:spPr>
          <a:xfrm>
            <a:off x="566928" y="6446520"/>
            <a:ext cx="10469880" cy="219456"/>
          </a:xfrm>
          <a:prstGeom prst="rect">
            <a:avLst/>
          </a:prstGeom>
          <a:noFill/>
        </p:spPr>
        <p:txBody>
          <a:bodyPr wrap="none" lIns="50800" rIns="50800" tIns="25400" bIns="25400">
            <a:spAutoFit/>
          </a:bodyPr>
          <a:lstStyle/>
          <a:p>
            <a:pPr algn="l">
              <a:lnSpc>
                <a:spcPts val="1178"/>
              </a:lnSpc>
              <a:spcBef>
                <a:spcPts val="0"/>
              </a:spcBef>
              <a:spcAft>
                <a:spcPts val="0"/>
              </a:spcAft>
            </a:pPr>
            <a:r>
              <a:rPr sz="950" b="0">
                <a:solidFill>
                  <a:srgbClr val="6B7280"/>
                </a:solidFill>
                <a:latin typeface="Segoe UI"/>
              </a:rPr>
              <a:t>Nguồn: Our World in Data, tổng hợp từ Ember và BP · 10 nước ASEAN · 2000–2021</a:t>
            </a:r>
          </a:p>
        </p:txBody>
      </p:sp>
      <p:sp>
        <p:nvSpPr>
          <p:cNvPr id="14" name="TextBox 13"/>
          <p:cNvSpPr txBox="1"/>
          <p:nvPr/>
        </p:nvSpPr>
        <p:spPr>
          <a:xfrm>
            <a:off x="11109960" y="6446520"/>
            <a:ext cx="457200" cy="219456"/>
          </a:xfrm>
          <a:prstGeom prst="rect">
            <a:avLst/>
          </a:prstGeom>
          <a:noFill/>
        </p:spPr>
        <p:txBody>
          <a:bodyPr wrap="none" lIns="50800" rIns="50800" tIns="25400" bIns="25400">
            <a:spAutoFit/>
          </a:bodyPr>
          <a:lstStyle/>
          <a:p>
            <a:pPr algn="r">
              <a:lnSpc>
                <a:spcPts val="1178"/>
              </a:lnSpc>
              <a:spcBef>
                <a:spcPts val="0"/>
              </a:spcBef>
              <a:spcAft>
                <a:spcPts val="0"/>
              </a:spcAft>
            </a:pPr>
            <a:r>
              <a:rPr sz="950" b="0">
                <a:solidFill>
                  <a:srgbClr val="6B7280"/>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0040"/>
            <a:ext cx="11055096" cy="274320"/>
          </a:xfrm>
          <a:prstGeom prst="rect">
            <a:avLst/>
          </a:prstGeom>
          <a:noFill/>
        </p:spPr>
        <p:txBody>
          <a:bodyPr wrap="none" lIns="50800" rIns="50800" tIns="25400" bIns="25400">
            <a:spAutoFit/>
          </a:bodyPr>
          <a:lstStyle/>
          <a:p>
            <a:pPr algn="l">
              <a:lnSpc>
                <a:spcPts val="1488"/>
              </a:lnSpc>
              <a:spcBef>
                <a:spcPts val="0"/>
              </a:spcBef>
              <a:spcAft>
                <a:spcPts val="0"/>
              </a:spcAft>
            </a:pPr>
            <a:r>
              <a:rPr sz="1200" b="1">
                <a:solidFill>
                  <a:srgbClr val="D55E00"/>
                </a:solidFill>
                <a:latin typeface="Segoe UI"/>
              </a:rPr>
              <a:t>BẢNG ĐIỀU KHIỂN TƯƠNG TÁC</a:t>
            </a:r>
          </a:p>
        </p:txBody>
      </p:sp>
      <p:sp>
        <p:nvSpPr>
          <p:cNvPr id="3" name="TextBox 2"/>
          <p:cNvSpPr txBox="1"/>
          <p:nvPr/>
        </p:nvSpPr>
        <p:spPr>
          <a:xfrm>
            <a:off x="566928" y="713232"/>
            <a:ext cx="11055096" cy="859536"/>
          </a:xfrm>
          <a:prstGeom prst="rect">
            <a:avLst/>
          </a:prstGeom>
          <a:noFill/>
        </p:spPr>
        <p:txBody>
          <a:bodyPr wrap="none" lIns="50800" rIns="50800" tIns="25400" bIns="25400">
            <a:spAutoFit/>
          </a:bodyPr>
          <a:lstStyle/>
          <a:p>
            <a:pPr algn="l">
              <a:lnSpc>
                <a:spcPts val="3720"/>
              </a:lnSpc>
              <a:spcBef>
                <a:spcPts val="0"/>
              </a:spcBef>
              <a:spcAft>
                <a:spcPts val="0"/>
              </a:spcAft>
            </a:pPr>
            <a:r>
              <a:rPr sz="3000" b="1">
                <a:solidFill>
                  <a:srgbClr val="374151"/>
                </a:solidFill>
                <a:latin typeface="Segoe UI"/>
              </a:rPr>
              <a:t>Ba trang hỗ trợ đọc kết quả từ tổng quan đến từng nước</a:t>
            </a:r>
          </a:p>
        </p:txBody>
      </p:sp>
      <p:sp>
        <p:nvSpPr>
          <p:cNvPr id="4" name="Rectangle 3"/>
          <p:cNvSpPr/>
          <p:nvPr/>
        </p:nvSpPr>
        <p:spPr>
          <a:xfrm>
            <a:off x="566928" y="1636776"/>
            <a:ext cx="11055096" cy="16459"/>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139696"/>
            <a:ext cx="3465576" cy="2258568"/>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139696"/>
            <a:ext cx="3465576" cy="50292"/>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2377440"/>
            <a:ext cx="3191256" cy="731520"/>
          </a:xfrm>
          <a:prstGeom prst="rect">
            <a:avLst/>
          </a:prstGeom>
          <a:noFill/>
        </p:spPr>
        <p:txBody>
          <a:bodyPr wrap="none" lIns="50800" rIns="50800" tIns="25400" bIns="25400">
            <a:spAutoFit/>
          </a:bodyPr>
          <a:lstStyle/>
          <a:p>
            <a:pPr algn="l">
              <a:lnSpc>
                <a:spcPts val="2604"/>
              </a:lnSpc>
              <a:spcBef>
                <a:spcPts val="0"/>
              </a:spcBef>
              <a:spcAft>
                <a:spcPts val="0"/>
              </a:spcAft>
            </a:pPr>
            <a:r>
              <a:rPr sz="2100" b="1">
                <a:solidFill>
                  <a:srgbClr val="0072B2"/>
                </a:solidFill>
                <a:latin typeface="Segoe UI"/>
              </a:rPr>
              <a:t>Tổng quan Đông Nam Á</a:t>
            </a:r>
          </a:p>
        </p:txBody>
      </p:sp>
      <p:sp>
        <p:nvSpPr>
          <p:cNvPr id="8" name="TextBox 7"/>
          <p:cNvSpPr txBox="1"/>
          <p:nvPr/>
        </p:nvSpPr>
        <p:spPr>
          <a:xfrm>
            <a:off x="795528" y="3255264"/>
            <a:ext cx="3191256" cy="914400"/>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Quy mô và cơ cấu nguồn điện</a:t>
            </a:r>
          </a:p>
          <a:p>
            <a:pPr algn="l">
              <a:lnSpc>
                <a:spcPts val="2232"/>
              </a:lnSpc>
              <a:spcBef>
                <a:spcPts val="0"/>
              </a:spcBef>
              <a:spcAft>
                <a:spcPts val="0"/>
              </a:spcAft>
            </a:pPr>
            <a:r>
              <a:rPr sz="1800" b="0">
                <a:solidFill>
                  <a:srgbClr val="374151"/>
                </a:solidFill>
                <a:latin typeface="Segoe UI"/>
              </a:rPr>
              <a:t>Tỷ trọng khu vực so với thế</a:t>
            </a:r>
          </a:p>
          <a:p>
            <a:pPr algn="l">
              <a:lnSpc>
                <a:spcPts val="2232"/>
              </a:lnSpc>
              <a:spcBef>
                <a:spcPts val="0"/>
              </a:spcBef>
              <a:spcAft>
                <a:spcPts val="0"/>
              </a:spcAft>
            </a:pPr>
            <a:r>
              <a:rPr sz="1800" b="0">
                <a:solidFill>
                  <a:srgbClr val="374151"/>
                </a:solidFill>
                <a:latin typeface="Segoe UI"/>
              </a:rPr>
              <a:t>giới</a:t>
            </a:r>
          </a:p>
        </p:txBody>
      </p:sp>
      <p:sp>
        <p:nvSpPr>
          <p:cNvPr id="9" name="Rectangle 8"/>
          <p:cNvSpPr/>
          <p:nvPr/>
        </p:nvSpPr>
        <p:spPr>
          <a:xfrm>
            <a:off x="4379976" y="2139696"/>
            <a:ext cx="3465576" cy="2258568"/>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79976" y="2139696"/>
            <a:ext cx="3465576" cy="50292"/>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7136" y="2377440"/>
            <a:ext cx="3191256" cy="731520"/>
          </a:xfrm>
          <a:prstGeom prst="rect">
            <a:avLst/>
          </a:prstGeom>
          <a:noFill/>
        </p:spPr>
        <p:txBody>
          <a:bodyPr wrap="none" lIns="50800" rIns="50800" tIns="25400" bIns="25400">
            <a:spAutoFit/>
          </a:bodyPr>
          <a:lstStyle/>
          <a:p>
            <a:pPr algn="l">
              <a:lnSpc>
                <a:spcPts val="2852"/>
              </a:lnSpc>
              <a:spcBef>
                <a:spcPts val="0"/>
              </a:spcBef>
              <a:spcAft>
                <a:spcPts val="0"/>
              </a:spcAft>
            </a:pPr>
            <a:r>
              <a:rPr sz="2300" b="1">
                <a:solidFill>
                  <a:srgbClr val="D55E00"/>
                </a:solidFill>
                <a:latin typeface="Segoe UI"/>
              </a:rPr>
              <a:t>Việt Nam chuyên sâu</a:t>
            </a:r>
          </a:p>
        </p:txBody>
      </p:sp>
      <p:sp>
        <p:nvSpPr>
          <p:cNvPr id="12" name="TextBox 11"/>
          <p:cNvSpPr txBox="1"/>
          <p:nvPr/>
        </p:nvSpPr>
        <p:spPr>
          <a:xfrm>
            <a:off x="4517136" y="3255264"/>
            <a:ext cx="3191256" cy="914400"/>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Xu hướng sản lượng theo</a:t>
            </a:r>
          </a:p>
          <a:p>
            <a:pPr algn="l">
              <a:lnSpc>
                <a:spcPts val="2232"/>
              </a:lnSpc>
              <a:spcBef>
                <a:spcPts val="0"/>
              </a:spcBef>
              <a:spcAft>
                <a:spcPts val="0"/>
              </a:spcAft>
            </a:pPr>
            <a:r>
              <a:rPr sz="1800" b="0">
                <a:solidFill>
                  <a:srgbClr val="374151"/>
                </a:solidFill>
                <a:latin typeface="Segoe UI"/>
              </a:rPr>
              <a:t>công nghệ</a:t>
            </a:r>
          </a:p>
          <a:p>
            <a:pPr algn="l">
              <a:lnSpc>
                <a:spcPts val="2232"/>
              </a:lnSpc>
              <a:spcBef>
                <a:spcPts val="0"/>
              </a:spcBef>
              <a:spcAft>
                <a:spcPts val="0"/>
              </a:spcAft>
            </a:pPr>
            <a:r>
              <a:rPr sz="1800" b="0">
                <a:solidFill>
                  <a:srgbClr val="374151"/>
                </a:solidFill>
                <a:latin typeface="Segoe UI"/>
              </a:rPr>
              <a:t>Vị trí trong khu vực và thế giới</a:t>
            </a:r>
          </a:p>
        </p:txBody>
      </p:sp>
      <p:sp>
        <p:nvSpPr>
          <p:cNvPr id="13" name="Rectangle 12"/>
          <p:cNvSpPr/>
          <p:nvPr/>
        </p:nvSpPr>
        <p:spPr>
          <a:xfrm>
            <a:off x="8101584" y="2139696"/>
            <a:ext cx="3465576" cy="2258568"/>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01584" y="2139696"/>
            <a:ext cx="3465576" cy="50292"/>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38744" y="2377440"/>
            <a:ext cx="3191256" cy="731520"/>
          </a:xfrm>
          <a:prstGeom prst="rect">
            <a:avLst/>
          </a:prstGeom>
          <a:noFill/>
        </p:spPr>
        <p:txBody>
          <a:bodyPr wrap="none" lIns="50800" rIns="50800" tIns="25400" bIns="25400">
            <a:spAutoFit/>
          </a:bodyPr>
          <a:lstStyle/>
          <a:p>
            <a:pPr algn="l">
              <a:lnSpc>
                <a:spcPts val="2852"/>
              </a:lnSpc>
              <a:spcBef>
                <a:spcPts val="0"/>
              </a:spcBef>
              <a:spcAft>
                <a:spcPts val="0"/>
              </a:spcAft>
            </a:pPr>
            <a:r>
              <a:rPr sz="2300" b="1">
                <a:solidFill>
                  <a:srgbClr val="009E73"/>
                </a:solidFill>
                <a:latin typeface="Segoe UI"/>
              </a:rPr>
              <a:t>So sánh và chẩn đoán</a:t>
            </a:r>
          </a:p>
        </p:txBody>
      </p:sp>
      <p:sp>
        <p:nvSpPr>
          <p:cNvPr id="16" name="TextBox 15"/>
          <p:cNvSpPr txBox="1"/>
          <p:nvPr/>
        </p:nvSpPr>
        <p:spPr>
          <a:xfrm>
            <a:off x="8238744" y="3255264"/>
            <a:ext cx="3191256" cy="914400"/>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Thứ hạng theo chỉ tiêu</a:t>
            </a:r>
          </a:p>
          <a:p>
            <a:pPr algn="l">
              <a:lnSpc>
                <a:spcPts val="2232"/>
              </a:lnSpc>
              <a:spcBef>
                <a:spcPts val="0"/>
              </a:spcBef>
              <a:spcAft>
                <a:spcPts val="0"/>
              </a:spcAft>
            </a:pPr>
            <a:r>
              <a:rPr sz="1800" b="0">
                <a:solidFill>
                  <a:srgbClr val="374151"/>
                </a:solidFill>
                <a:latin typeface="Segoe UI"/>
              </a:rPr>
              <a:t>Khác biệt giữa các nước</a:t>
            </a:r>
          </a:p>
        </p:txBody>
      </p:sp>
      <p:sp>
        <p:nvSpPr>
          <p:cNvPr id="17" name="TextBox 16"/>
          <p:cNvSpPr txBox="1"/>
          <p:nvPr/>
        </p:nvSpPr>
        <p:spPr>
          <a:xfrm>
            <a:off x="685800" y="4800600"/>
            <a:ext cx="10808208" cy="960120"/>
          </a:xfrm>
          <a:prstGeom prst="rect">
            <a:avLst/>
          </a:prstGeom>
          <a:noFill/>
        </p:spPr>
        <p:txBody>
          <a:bodyPr wrap="none" lIns="50800" rIns="50800" tIns="25400" bIns="25400">
            <a:spAutoFit/>
          </a:bodyPr>
          <a:lstStyle/>
          <a:p>
            <a:pPr algn="l">
              <a:lnSpc>
                <a:spcPts val="2604"/>
              </a:lnSpc>
              <a:spcBef>
                <a:spcPts val="0"/>
              </a:spcBef>
              <a:spcAft>
                <a:spcPts val="0"/>
              </a:spcAft>
            </a:pPr>
            <a:r>
              <a:rPr sz="2100" b="0">
                <a:solidFill>
                  <a:srgbClr val="374151"/>
                </a:solidFill>
                <a:latin typeface="Segoe UI"/>
              </a:rPr>
              <a:t>Cách đọc: chọn năm và phạm vi, xác định chỉ tiêu đang xem, rồi đối chiếu các nước. Khi</a:t>
            </a:r>
          </a:p>
          <a:p>
            <a:pPr algn="l">
              <a:lnSpc>
                <a:spcPts val="2604"/>
              </a:lnSpc>
              <a:spcBef>
                <a:spcPts val="0"/>
              </a:spcBef>
              <a:spcAft>
                <a:spcPts val="0"/>
              </a:spcAft>
            </a:pPr>
            <a:r>
              <a:rPr sz="2100" b="0">
                <a:solidFill>
                  <a:srgbClr val="374151"/>
                </a:solidFill>
                <a:latin typeface="Segoe UI"/>
              </a:rPr>
              <a:t>chuyển từ tổng điện tái tạo sang gió và mặt trời, cần đọc lại ý nghĩa của thứ hạng.</a:t>
            </a:r>
          </a:p>
        </p:txBody>
      </p:sp>
      <p:sp>
        <p:nvSpPr>
          <p:cNvPr id="18" name="TextBox 17"/>
          <p:cNvSpPr txBox="1"/>
          <p:nvPr/>
        </p:nvSpPr>
        <p:spPr>
          <a:xfrm>
            <a:off x="566928" y="6446520"/>
            <a:ext cx="10469880" cy="219456"/>
          </a:xfrm>
          <a:prstGeom prst="rect">
            <a:avLst/>
          </a:prstGeom>
          <a:noFill/>
        </p:spPr>
        <p:txBody>
          <a:bodyPr wrap="none" lIns="50800" rIns="50800" tIns="25400" bIns="25400">
            <a:spAutoFit/>
          </a:bodyPr>
          <a:lstStyle/>
          <a:p>
            <a:pPr algn="l">
              <a:lnSpc>
                <a:spcPts val="1178"/>
              </a:lnSpc>
              <a:spcBef>
                <a:spcPts val="0"/>
              </a:spcBef>
              <a:spcAft>
                <a:spcPts val="0"/>
              </a:spcAft>
            </a:pPr>
            <a:r>
              <a:rPr sz="950" b="0">
                <a:solidFill>
                  <a:srgbClr val="6B7280"/>
                </a:solidFill>
                <a:latin typeface="Segoe UI"/>
              </a:rPr>
              <a:t>Nguồn: Our World in Data, tổng hợp từ Ember và BP · 10 nước ASEAN · 2000–2021</a:t>
            </a:r>
          </a:p>
        </p:txBody>
      </p:sp>
      <p:sp>
        <p:nvSpPr>
          <p:cNvPr id="19" name="TextBox 18"/>
          <p:cNvSpPr txBox="1"/>
          <p:nvPr/>
        </p:nvSpPr>
        <p:spPr>
          <a:xfrm>
            <a:off x="11109960" y="6446520"/>
            <a:ext cx="457200" cy="219456"/>
          </a:xfrm>
          <a:prstGeom prst="rect">
            <a:avLst/>
          </a:prstGeom>
          <a:noFill/>
        </p:spPr>
        <p:txBody>
          <a:bodyPr wrap="none" lIns="50800" rIns="50800" tIns="25400" bIns="25400">
            <a:spAutoFit/>
          </a:bodyPr>
          <a:lstStyle/>
          <a:p>
            <a:pPr algn="r">
              <a:lnSpc>
                <a:spcPts val="1178"/>
              </a:lnSpc>
              <a:spcBef>
                <a:spcPts val="0"/>
              </a:spcBef>
              <a:spcAft>
                <a:spcPts val="0"/>
              </a:spcAft>
            </a:pPr>
            <a:r>
              <a:rPr sz="950" b="0">
                <a:solidFill>
                  <a:srgbClr val="6B7280"/>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0040"/>
            <a:ext cx="11055096" cy="274320"/>
          </a:xfrm>
          <a:prstGeom prst="rect">
            <a:avLst/>
          </a:prstGeom>
          <a:noFill/>
        </p:spPr>
        <p:txBody>
          <a:bodyPr wrap="none" lIns="50800" rIns="50800" tIns="25400" bIns="25400">
            <a:spAutoFit/>
          </a:bodyPr>
          <a:lstStyle/>
          <a:p>
            <a:pPr algn="l">
              <a:lnSpc>
                <a:spcPts val="1488"/>
              </a:lnSpc>
              <a:spcBef>
                <a:spcPts val="0"/>
              </a:spcBef>
              <a:spcAft>
                <a:spcPts val="0"/>
              </a:spcAft>
            </a:pPr>
            <a:r>
              <a:rPr sz="1200" b="1">
                <a:solidFill>
                  <a:srgbClr val="D55E00"/>
                </a:solidFill>
                <a:latin typeface="Segoe UI"/>
              </a:rPr>
              <a:t>KẾT LUẬN</a:t>
            </a:r>
          </a:p>
        </p:txBody>
      </p:sp>
      <p:sp>
        <p:nvSpPr>
          <p:cNvPr id="3" name="TextBox 2"/>
          <p:cNvSpPr txBox="1"/>
          <p:nvPr/>
        </p:nvSpPr>
        <p:spPr>
          <a:xfrm>
            <a:off x="566928" y="713232"/>
            <a:ext cx="11055096" cy="859536"/>
          </a:xfrm>
          <a:prstGeom prst="rect">
            <a:avLst/>
          </a:prstGeom>
          <a:noFill/>
        </p:spPr>
        <p:txBody>
          <a:bodyPr wrap="none" lIns="50800" rIns="50800" tIns="25400" bIns="25400">
            <a:spAutoFit/>
          </a:bodyPr>
          <a:lstStyle/>
          <a:p>
            <a:pPr algn="l">
              <a:lnSpc>
                <a:spcPts val="3224"/>
              </a:lnSpc>
              <a:spcBef>
                <a:spcPts val="0"/>
              </a:spcBef>
              <a:spcAft>
                <a:spcPts val="0"/>
              </a:spcAft>
            </a:pPr>
            <a:r>
              <a:rPr sz="2600" b="1">
                <a:solidFill>
                  <a:srgbClr val="374151"/>
                </a:solidFill>
                <a:latin typeface="Segoe UI"/>
              </a:rPr>
              <a:t>Điện tái tạo tăng, nhưng sản lượng gió và mặt trời tập trung ở ít nước</a:t>
            </a:r>
          </a:p>
        </p:txBody>
      </p:sp>
      <p:sp>
        <p:nvSpPr>
          <p:cNvPr id="4" name="Rectangle 3"/>
          <p:cNvSpPr/>
          <p:nvPr/>
        </p:nvSpPr>
        <p:spPr>
          <a:xfrm>
            <a:off x="566928" y="1636776"/>
            <a:ext cx="11055096" cy="16459"/>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883664"/>
            <a:ext cx="10881360" cy="713232"/>
          </a:xfrm>
          <a:prstGeom prst="rect">
            <a:avLst/>
          </a:prstGeom>
          <a:noFill/>
        </p:spPr>
        <p:txBody>
          <a:bodyPr wrap="none" lIns="50800" rIns="50800" tIns="25400" bIns="25400">
            <a:spAutoFit/>
          </a:bodyPr>
          <a:lstStyle/>
          <a:p>
            <a:pPr algn="l">
              <a:lnSpc>
                <a:spcPts val="2480"/>
              </a:lnSpc>
              <a:spcBef>
                <a:spcPts val="0"/>
              </a:spcBef>
              <a:spcAft>
                <a:spcPts val="0"/>
              </a:spcAft>
            </a:pPr>
            <a:r>
              <a:rPr sz="2000" b="0">
                <a:solidFill>
                  <a:srgbClr val="374151"/>
                </a:solidFill>
                <a:latin typeface="Segoe UI"/>
              </a:rPr>
              <a:t>• Sản lượng ASEAN tăng 3,98 lần; tỷ trọng thế giới đạt 3,67% năm 2021.</a:t>
            </a:r>
          </a:p>
        </p:txBody>
      </p:sp>
      <p:sp>
        <p:nvSpPr>
          <p:cNvPr id="6" name="TextBox 5"/>
          <p:cNvSpPr txBox="1"/>
          <p:nvPr/>
        </p:nvSpPr>
        <p:spPr>
          <a:xfrm>
            <a:off x="658368" y="2651760"/>
            <a:ext cx="10881360" cy="713232"/>
          </a:xfrm>
          <a:prstGeom prst="rect">
            <a:avLst/>
          </a:prstGeom>
          <a:noFill/>
        </p:spPr>
        <p:txBody>
          <a:bodyPr wrap="none" lIns="50800" rIns="50800" tIns="25400" bIns="25400">
            <a:spAutoFit/>
          </a:bodyPr>
          <a:lstStyle/>
          <a:p>
            <a:pPr algn="l">
              <a:lnSpc>
                <a:spcPts val="2480"/>
              </a:lnSpc>
              <a:spcBef>
                <a:spcPts val="0"/>
              </a:spcBef>
              <a:spcAft>
                <a:spcPts val="0"/>
              </a:spcAft>
            </a:pPr>
            <a:r>
              <a:rPr sz="2000" b="0">
                <a:solidFill>
                  <a:srgbClr val="374151"/>
                </a:solidFill>
                <a:latin typeface="Segoe UI"/>
              </a:rPr>
              <a:t>• Thủy điện chiếm 64,07%; gió và mặt trời chiếm 14,75%.</a:t>
            </a:r>
          </a:p>
        </p:txBody>
      </p:sp>
      <p:sp>
        <p:nvSpPr>
          <p:cNvPr id="7" name="TextBox 6"/>
          <p:cNvSpPr txBox="1"/>
          <p:nvPr/>
        </p:nvSpPr>
        <p:spPr>
          <a:xfrm>
            <a:off x="658368" y="3419856"/>
            <a:ext cx="10881360" cy="713232"/>
          </a:xfrm>
          <a:prstGeom prst="rect">
            <a:avLst/>
          </a:prstGeom>
          <a:noFill/>
        </p:spPr>
        <p:txBody>
          <a:bodyPr wrap="none" lIns="50800" rIns="50800" tIns="25400" bIns="25400">
            <a:spAutoFit/>
          </a:bodyPr>
          <a:lstStyle/>
          <a:p>
            <a:pPr algn="l">
              <a:lnSpc>
                <a:spcPts val="2480"/>
              </a:lnSpc>
              <a:spcBef>
                <a:spcPts val="0"/>
              </a:spcBef>
              <a:spcAft>
                <a:spcPts val="0"/>
              </a:spcAft>
            </a:pPr>
            <a:r>
              <a:rPr sz="2000" b="0">
                <a:solidFill>
                  <a:srgbClr val="374151"/>
                </a:solidFill>
                <a:latin typeface="Segoe UI"/>
              </a:rPr>
              <a:t>• Ba nước dẫn đầu chiếm 92,25% sản lượng gió và mặt trời năm 2021.</a:t>
            </a:r>
          </a:p>
        </p:txBody>
      </p:sp>
      <p:sp>
        <p:nvSpPr>
          <p:cNvPr id="8" name="TextBox 7"/>
          <p:cNvSpPr txBox="1"/>
          <p:nvPr/>
        </p:nvSpPr>
        <p:spPr>
          <a:xfrm>
            <a:off x="658368" y="4187952"/>
            <a:ext cx="10881360" cy="713232"/>
          </a:xfrm>
          <a:prstGeom prst="rect">
            <a:avLst/>
          </a:prstGeom>
          <a:noFill/>
        </p:spPr>
        <p:txBody>
          <a:bodyPr wrap="none" lIns="50800" rIns="50800" tIns="25400" bIns="25400">
            <a:spAutoFit/>
          </a:bodyPr>
          <a:lstStyle/>
          <a:p>
            <a:pPr algn="l">
              <a:lnSpc>
                <a:spcPts val="2480"/>
              </a:lnSpc>
              <a:spcBef>
                <a:spcPts val="0"/>
              </a:spcBef>
              <a:spcAft>
                <a:spcPts val="0"/>
              </a:spcAft>
            </a:pPr>
            <a:r>
              <a:rPr sz="2000" b="0">
                <a:solidFill>
                  <a:srgbClr val="374151"/>
                </a:solidFill>
                <a:latin typeface="Segoe UI"/>
              </a:rPr>
              <a:t>• Việt Nam chiếm 65,90% sản lượng và 65,99% mức tăng dương gió và mặt trời.</a:t>
            </a:r>
          </a:p>
        </p:txBody>
      </p:sp>
      <p:sp>
        <p:nvSpPr>
          <p:cNvPr id="9" name="TextBox 8"/>
          <p:cNvSpPr txBox="1"/>
          <p:nvPr/>
        </p:nvSpPr>
        <p:spPr>
          <a:xfrm>
            <a:off x="658368" y="4956048"/>
            <a:ext cx="10881360" cy="713232"/>
          </a:xfrm>
          <a:prstGeom prst="rect">
            <a:avLst/>
          </a:prstGeom>
          <a:noFill/>
        </p:spPr>
        <p:txBody>
          <a:bodyPr wrap="none" lIns="50800" rIns="50800" tIns="25400" bIns="25400">
            <a:spAutoFit/>
          </a:bodyPr>
          <a:lstStyle/>
          <a:p>
            <a:pPr algn="l">
              <a:lnSpc>
                <a:spcPts val="2480"/>
              </a:lnSpc>
              <a:spcBef>
                <a:spcPts val="0"/>
              </a:spcBef>
              <a:spcAft>
                <a:spcPts val="0"/>
              </a:spcAft>
            </a:pPr>
            <a:r>
              <a:rPr sz="2000" b="0">
                <a:solidFill>
                  <a:srgbClr val="374151"/>
                </a:solidFill>
                <a:latin typeface="Segoe UI"/>
              </a:rPr>
              <a:t>• Thứ hạng phụ thuộc chỉ tiêu; cần ghi rõ năm và tập quốc gia so sánh.</a:t>
            </a:r>
          </a:p>
        </p:txBody>
      </p:sp>
      <p:sp>
        <p:nvSpPr>
          <p:cNvPr id="10" name="TextBox 9"/>
          <p:cNvSpPr txBox="1"/>
          <p:nvPr/>
        </p:nvSpPr>
        <p:spPr>
          <a:xfrm>
            <a:off x="566928" y="6446520"/>
            <a:ext cx="10469880" cy="219456"/>
          </a:xfrm>
          <a:prstGeom prst="rect">
            <a:avLst/>
          </a:prstGeom>
          <a:noFill/>
        </p:spPr>
        <p:txBody>
          <a:bodyPr wrap="none" lIns="50800" rIns="50800" tIns="25400" bIns="25400">
            <a:spAutoFit/>
          </a:bodyPr>
          <a:lstStyle/>
          <a:p>
            <a:pPr algn="l">
              <a:lnSpc>
                <a:spcPts val="1178"/>
              </a:lnSpc>
              <a:spcBef>
                <a:spcPts val="0"/>
              </a:spcBef>
              <a:spcAft>
                <a:spcPts val="0"/>
              </a:spcAft>
            </a:pPr>
            <a:r>
              <a:rPr sz="950" b="0">
                <a:solidFill>
                  <a:srgbClr val="6B7280"/>
                </a:solidFill>
                <a:latin typeface="Segoe UI"/>
              </a:rPr>
              <a:t>Nguồn: Our World in Data, tổng hợp từ Ember và BP · 10 nước ASEAN · 2000–2021</a:t>
            </a:r>
          </a:p>
        </p:txBody>
      </p:sp>
      <p:sp>
        <p:nvSpPr>
          <p:cNvPr id="11" name="TextBox 10"/>
          <p:cNvSpPr txBox="1"/>
          <p:nvPr/>
        </p:nvSpPr>
        <p:spPr>
          <a:xfrm>
            <a:off x="11109960" y="6446520"/>
            <a:ext cx="457200" cy="219456"/>
          </a:xfrm>
          <a:prstGeom prst="rect">
            <a:avLst/>
          </a:prstGeom>
          <a:noFill/>
        </p:spPr>
        <p:txBody>
          <a:bodyPr wrap="none" lIns="50800" rIns="50800" tIns="25400" bIns="25400">
            <a:spAutoFit/>
          </a:bodyPr>
          <a:lstStyle/>
          <a:p>
            <a:pPr algn="r">
              <a:lnSpc>
                <a:spcPts val="1178"/>
              </a:lnSpc>
              <a:spcBef>
                <a:spcPts val="0"/>
              </a:spcBef>
              <a:spcAft>
                <a:spcPts val="0"/>
              </a:spcAft>
            </a:pPr>
            <a:r>
              <a:rPr sz="950" b="0">
                <a:solidFill>
                  <a:srgbClr val="6B7280"/>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0040"/>
            <a:ext cx="11055096" cy="274320"/>
          </a:xfrm>
          <a:prstGeom prst="rect">
            <a:avLst/>
          </a:prstGeom>
          <a:noFill/>
        </p:spPr>
        <p:txBody>
          <a:bodyPr wrap="none" lIns="50800" rIns="50800" tIns="25400" bIns="25400">
            <a:spAutoFit/>
          </a:bodyPr>
          <a:lstStyle/>
          <a:p>
            <a:pPr algn="l">
              <a:lnSpc>
                <a:spcPts val="1488"/>
              </a:lnSpc>
              <a:spcBef>
                <a:spcPts val="0"/>
              </a:spcBef>
              <a:spcAft>
                <a:spcPts val="0"/>
              </a:spcAft>
            </a:pPr>
            <a:r>
              <a:rPr sz="1200" b="1">
                <a:solidFill>
                  <a:srgbClr val="D55E00"/>
                </a:solidFill>
                <a:latin typeface="Segoe UI"/>
              </a:rPr>
              <a:t>ĐỀ XUẤT</a:t>
            </a:r>
          </a:p>
        </p:txBody>
      </p:sp>
      <p:sp>
        <p:nvSpPr>
          <p:cNvPr id="3" name="TextBox 2"/>
          <p:cNvSpPr txBox="1"/>
          <p:nvPr/>
        </p:nvSpPr>
        <p:spPr>
          <a:xfrm>
            <a:off x="566928" y="713232"/>
            <a:ext cx="11055096" cy="859536"/>
          </a:xfrm>
          <a:prstGeom prst="rect">
            <a:avLst/>
          </a:prstGeom>
          <a:noFill/>
        </p:spPr>
        <p:txBody>
          <a:bodyPr wrap="none" lIns="50800" rIns="50800" tIns="25400" bIns="25400">
            <a:spAutoFit/>
          </a:bodyPr>
          <a:lstStyle/>
          <a:p>
            <a:pPr algn="l">
              <a:lnSpc>
                <a:spcPts val="3533"/>
              </a:lnSpc>
              <a:spcBef>
                <a:spcPts val="0"/>
              </a:spcBef>
              <a:spcAft>
                <a:spcPts val="0"/>
              </a:spcAft>
            </a:pPr>
            <a:r>
              <a:rPr sz="2850" b="1">
                <a:solidFill>
                  <a:srgbClr val="374151"/>
                </a:solidFill>
                <a:latin typeface="Segoe UI"/>
              </a:rPr>
              <a:t>Phân biệt cải thiện báo cáo với quyết định cần nghiên cứu thêm</a:t>
            </a:r>
          </a:p>
        </p:txBody>
      </p:sp>
      <p:sp>
        <p:nvSpPr>
          <p:cNvPr id="4" name="Rectangle 3"/>
          <p:cNvSpPr/>
          <p:nvPr/>
        </p:nvSpPr>
        <p:spPr>
          <a:xfrm>
            <a:off x="566928" y="1636776"/>
            <a:ext cx="11055096" cy="16459"/>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20240"/>
            <a:ext cx="5184648" cy="685800"/>
          </a:xfrm>
          <a:prstGeom prst="rect">
            <a:avLst/>
          </a:prstGeom>
          <a:noFill/>
        </p:spPr>
        <p:txBody>
          <a:bodyPr wrap="none" lIns="50800" rIns="50800" tIns="25400" bIns="25400">
            <a:spAutoFit/>
          </a:bodyPr>
          <a:lstStyle/>
          <a:p>
            <a:pPr algn="l">
              <a:lnSpc>
                <a:spcPts val="2232"/>
              </a:lnSpc>
              <a:spcBef>
                <a:spcPts val="0"/>
              </a:spcBef>
              <a:spcAft>
                <a:spcPts val="0"/>
              </a:spcAft>
            </a:pPr>
            <a:r>
              <a:rPr sz="1800" b="1">
                <a:solidFill>
                  <a:srgbClr val="0072B2"/>
                </a:solidFill>
                <a:latin typeface="Segoe UI"/>
              </a:rPr>
              <a:t>ÁP DỤNG NGAY TRONG BÁO CÁO</a:t>
            </a:r>
          </a:p>
        </p:txBody>
      </p:sp>
      <p:sp>
        <p:nvSpPr>
          <p:cNvPr id="6" name="TextBox 5"/>
          <p:cNvSpPr txBox="1"/>
          <p:nvPr/>
        </p:nvSpPr>
        <p:spPr>
          <a:xfrm>
            <a:off x="685800" y="2788920"/>
            <a:ext cx="5184648" cy="722376"/>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Công bố đồng thời sản lượng và tỷ trọng.</a:t>
            </a:r>
          </a:p>
        </p:txBody>
      </p:sp>
      <p:sp>
        <p:nvSpPr>
          <p:cNvPr id="7" name="TextBox 6"/>
          <p:cNvSpPr txBox="1"/>
          <p:nvPr/>
        </p:nvSpPr>
        <p:spPr>
          <a:xfrm>
            <a:off x="685800" y="3566160"/>
            <a:ext cx="5184648" cy="722376"/>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Ghi rõ chỉ tiêu, năm và tập nước của mỗi bảng</a:t>
            </a:r>
          </a:p>
          <a:p>
            <a:pPr algn="l">
              <a:lnSpc>
                <a:spcPts val="2232"/>
              </a:lnSpc>
              <a:spcBef>
                <a:spcPts val="0"/>
              </a:spcBef>
              <a:spcAft>
                <a:spcPts val="0"/>
              </a:spcAft>
            </a:pPr>
            <a:r>
              <a:rPr sz="1800" b="0">
                <a:solidFill>
                  <a:srgbClr val="374151"/>
                </a:solidFill>
                <a:latin typeface="Segoe UI"/>
              </a:rPr>
              <a:t>xếp hạng.</a:t>
            </a:r>
          </a:p>
        </p:txBody>
      </p:sp>
      <p:sp>
        <p:nvSpPr>
          <p:cNvPr id="8" name="TextBox 7"/>
          <p:cNvSpPr txBox="1"/>
          <p:nvPr/>
        </p:nvSpPr>
        <p:spPr>
          <a:xfrm>
            <a:off x="685800" y="4343400"/>
            <a:ext cx="5184648" cy="722376"/>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Trình bày phân bố theo nước bên cạnh tổng khu</a:t>
            </a:r>
          </a:p>
          <a:p>
            <a:pPr algn="l">
              <a:lnSpc>
                <a:spcPts val="2232"/>
              </a:lnSpc>
              <a:spcBef>
                <a:spcPts val="0"/>
              </a:spcBef>
              <a:spcAft>
                <a:spcPts val="0"/>
              </a:spcAft>
            </a:pPr>
            <a:r>
              <a:rPr sz="1800" b="0">
                <a:solidFill>
                  <a:srgbClr val="374151"/>
                </a:solidFill>
                <a:latin typeface="Segoe UI"/>
              </a:rPr>
              <a:t>vực.</a:t>
            </a:r>
          </a:p>
        </p:txBody>
      </p:sp>
      <p:sp>
        <p:nvSpPr>
          <p:cNvPr id="9" name="TextBox 8"/>
          <p:cNvSpPr txBox="1"/>
          <p:nvPr/>
        </p:nvSpPr>
        <p:spPr>
          <a:xfrm>
            <a:off x="685800" y="5120640"/>
            <a:ext cx="5184648" cy="722376"/>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Công bố phạm vi thiếu dữ liệu và quy tắc tính</a:t>
            </a:r>
          </a:p>
          <a:p>
            <a:pPr algn="l">
              <a:lnSpc>
                <a:spcPts val="2232"/>
              </a:lnSpc>
              <a:spcBef>
                <a:spcPts val="0"/>
              </a:spcBef>
              <a:spcAft>
                <a:spcPts val="0"/>
              </a:spcAft>
            </a:pPr>
            <a:r>
              <a:rPr sz="1800" b="0">
                <a:solidFill>
                  <a:srgbClr val="374151"/>
                </a:solidFill>
                <a:latin typeface="Segoe UI"/>
              </a:rPr>
              <a:t>mẫu số.</a:t>
            </a:r>
          </a:p>
        </p:txBody>
      </p:sp>
      <p:sp>
        <p:nvSpPr>
          <p:cNvPr id="10" name="TextBox 9"/>
          <p:cNvSpPr txBox="1"/>
          <p:nvPr/>
        </p:nvSpPr>
        <p:spPr>
          <a:xfrm>
            <a:off x="6327648" y="1920240"/>
            <a:ext cx="5184648" cy="685800"/>
          </a:xfrm>
          <a:prstGeom prst="rect">
            <a:avLst/>
          </a:prstGeom>
          <a:noFill/>
        </p:spPr>
        <p:txBody>
          <a:bodyPr wrap="none" lIns="50800" rIns="50800" tIns="25400" bIns="25400">
            <a:spAutoFit/>
          </a:bodyPr>
          <a:lstStyle/>
          <a:p>
            <a:pPr algn="l">
              <a:lnSpc>
                <a:spcPts val="2232"/>
              </a:lnSpc>
              <a:spcBef>
                <a:spcPts val="0"/>
              </a:spcBef>
              <a:spcAft>
                <a:spcPts val="0"/>
              </a:spcAft>
            </a:pPr>
            <a:r>
              <a:rPr sz="1800" b="1">
                <a:solidFill>
                  <a:srgbClr val="D55E00"/>
                </a:solidFill>
                <a:latin typeface="Segoe UI"/>
              </a:rPr>
              <a:t>CẦN PHÂN TÍCH THÊM TRƯỚC KHI QUYẾT</a:t>
            </a:r>
          </a:p>
          <a:p>
            <a:pPr algn="l">
              <a:lnSpc>
                <a:spcPts val="2232"/>
              </a:lnSpc>
              <a:spcBef>
                <a:spcPts val="0"/>
              </a:spcBef>
              <a:spcAft>
                <a:spcPts val="0"/>
              </a:spcAft>
            </a:pPr>
            <a:r>
              <a:rPr sz="1800" b="1">
                <a:solidFill>
                  <a:srgbClr val="D55E00"/>
                </a:solidFill>
                <a:latin typeface="Segoe UI"/>
              </a:rPr>
              <a:t>ĐỊNH</a:t>
            </a:r>
          </a:p>
        </p:txBody>
      </p:sp>
      <p:sp>
        <p:nvSpPr>
          <p:cNvPr id="11" name="TextBox 10"/>
          <p:cNvSpPr txBox="1"/>
          <p:nvPr/>
        </p:nvSpPr>
        <p:spPr>
          <a:xfrm>
            <a:off x="6327648" y="2788920"/>
            <a:ext cx="5184648" cy="981455"/>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Lưu trữ điện: cần phụ tải, phát điện theo giờ và</a:t>
            </a:r>
          </a:p>
          <a:p>
            <a:pPr algn="l">
              <a:lnSpc>
                <a:spcPts val="2232"/>
              </a:lnSpc>
              <a:spcBef>
                <a:spcPts val="0"/>
              </a:spcBef>
              <a:spcAft>
                <a:spcPts val="0"/>
              </a:spcAft>
            </a:pPr>
            <a:r>
              <a:rPr sz="1800" b="0">
                <a:solidFill>
                  <a:srgbClr val="374151"/>
                </a:solidFill>
                <a:latin typeface="Segoe UI"/>
              </a:rPr>
              <a:t>chi phí.</a:t>
            </a:r>
          </a:p>
        </p:txBody>
      </p:sp>
      <p:sp>
        <p:nvSpPr>
          <p:cNvPr id="12" name="TextBox 11"/>
          <p:cNvSpPr txBox="1"/>
          <p:nvPr/>
        </p:nvSpPr>
        <p:spPr>
          <a:xfrm>
            <a:off x="6327648" y="3825240"/>
            <a:ext cx="5184648" cy="981455"/>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Lựa chọn công nghệ: cần suất đầu tư, chi phí</a:t>
            </a:r>
          </a:p>
          <a:p>
            <a:pPr algn="l">
              <a:lnSpc>
                <a:spcPts val="2232"/>
              </a:lnSpc>
              <a:spcBef>
                <a:spcPts val="0"/>
              </a:spcBef>
              <a:spcAft>
                <a:spcPts val="0"/>
              </a:spcAft>
            </a:pPr>
            <a:r>
              <a:rPr sz="1800" b="0">
                <a:solidFill>
                  <a:srgbClr val="374151"/>
                </a:solidFill>
                <a:latin typeface="Segoe UI"/>
              </a:rPr>
              <a:t>vận hành và tài nguyên.</a:t>
            </a:r>
          </a:p>
        </p:txBody>
      </p:sp>
      <p:sp>
        <p:nvSpPr>
          <p:cNvPr id="13" name="TextBox 12"/>
          <p:cNvSpPr txBox="1"/>
          <p:nvPr/>
        </p:nvSpPr>
        <p:spPr>
          <a:xfrm>
            <a:off x="6327648" y="4861560"/>
            <a:ext cx="5184648" cy="981455"/>
          </a:xfrm>
          <a:prstGeom prst="rect">
            <a:avLst/>
          </a:prstGeom>
          <a:noFill/>
        </p:spPr>
        <p:txBody>
          <a:bodyPr wrap="none" lIns="50800" rIns="50800" tIns="25400" bIns="25400">
            <a:spAutoFit/>
          </a:bodyPr>
          <a:lstStyle/>
          <a:p>
            <a:pPr algn="l">
              <a:lnSpc>
                <a:spcPts val="2232"/>
              </a:lnSpc>
              <a:spcBef>
                <a:spcPts val="0"/>
              </a:spcBef>
              <a:spcAft>
                <a:spcPts val="0"/>
              </a:spcAft>
            </a:pPr>
            <a:r>
              <a:rPr sz="1800" b="0">
                <a:solidFill>
                  <a:srgbClr val="374151"/>
                </a:solidFill>
                <a:latin typeface="Segoe UI"/>
              </a:rPr>
              <a:t>• Hợp tác khu vực: cần năng lực truyền tải, trao</a:t>
            </a:r>
          </a:p>
          <a:p>
            <a:pPr algn="l">
              <a:lnSpc>
                <a:spcPts val="2232"/>
              </a:lnSpc>
              <a:spcBef>
                <a:spcPts val="0"/>
              </a:spcBef>
              <a:spcAft>
                <a:spcPts val="0"/>
              </a:spcAft>
            </a:pPr>
            <a:r>
              <a:rPr sz="1800" b="0">
                <a:solidFill>
                  <a:srgbClr val="374151"/>
                </a:solidFill>
                <a:latin typeface="Segoe UI"/>
              </a:rPr>
              <a:t>đổi điện và cơ chế phối hợp.</a:t>
            </a:r>
          </a:p>
        </p:txBody>
      </p:sp>
      <p:sp>
        <p:nvSpPr>
          <p:cNvPr id="14" name="TextBox 13"/>
          <p:cNvSpPr txBox="1"/>
          <p:nvPr/>
        </p:nvSpPr>
        <p:spPr>
          <a:xfrm>
            <a:off x="566928" y="6446520"/>
            <a:ext cx="10469880" cy="219456"/>
          </a:xfrm>
          <a:prstGeom prst="rect">
            <a:avLst/>
          </a:prstGeom>
          <a:noFill/>
        </p:spPr>
        <p:txBody>
          <a:bodyPr wrap="none" lIns="50800" rIns="50800" tIns="25400" bIns="25400">
            <a:spAutoFit/>
          </a:bodyPr>
          <a:lstStyle/>
          <a:p>
            <a:pPr algn="l">
              <a:lnSpc>
                <a:spcPts val="1178"/>
              </a:lnSpc>
              <a:spcBef>
                <a:spcPts val="0"/>
              </a:spcBef>
              <a:spcAft>
                <a:spcPts val="0"/>
              </a:spcAft>
            </a:pPr>
            <a:r>
              <a:rPr sz="950" b="0">
                <a:solidFill>
                  <a:srgbClr val="6B7280"/>
                </a:solidFill>
                <a:latin typeface="Segoe UI"/>
              </a:rPr>
              <a:t>Nguồn: Our World in Data, tổng hợp từ Ember và BP · 10 nước ASEAN · 2000–2021</a:t>
            </a:r>
          </a:p>
        </p:txBody>
      </p:sp>
      <p:sp>
        <p:nvSpPr>
          <p:cNvPr id="15" name="TextBox 14"/>
          <p:cNvSpPr txBox="1"/>
          <p:nvPr/>
        </p:nvSpPr>
        <p:spPr>
          <a:xfrm>
            <a:off x="11109960" y="6446520"/>
            <a:ext cx="457200" cy="219456"/>
          </a:xfrm>
          <a:prstGeom prst="rect">
            <a:avLst/>
          </a:prstGeom>
          <a:noFill/>
        </p:spPr>
        <p:txBody>
          <a:bodyPr wrap="none" lIns="50800" rIns="50800" tIns="25400" bIns="25400">
            <a:spAutoFit/>
          </a:bodyPr>
          <a:lstStyle/>
          <a:p>
            <a:pPr algn="r">
              <a:lnSpc>
                <a:spcPts val="1178"/>
              </a:lnSpc>
              <a:spcBef>
                <a:spcPts val="0"/>
              </a:spcBef>
              <a:spcAft>
                <a:spcPts val="0"/>
              </a:spcAft>
            </a:pPr>
            <a:r>
              <a:rPr sz="950" b="0">
                <a:solidFill>
                  <a:srgbClr val="6B7280"/>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20040"/>
            <a:ext cx="11055096" cy="274320"/>
          </a:xfrm>
          <a:prstGeom prst="rect">
            <a:avLst/>
          </a:prstGeom>
          <a:noFill/>
        </p:spPr>
        <p:txBody>
          <a:bodyPr wrap="none" lIns="50800" rIns="50800" tIns="25400" bIns="25400">
            <a:spAutoFit/>
          </a:bodyPr>
          <a:lstStyle/>
          <a:p>
            <a:pPr algn="l">
              <a:lnSpc>
                <a:spcPts val="1488"/>
              </a:lnSpc>
              <a:spcBef>
                <a:spcPts val="0"/>
              </a:spcBef>
              <a:spcAft>
                <a:spcPts val="0"/>
              </a:spcAft>
            </a:pPr>
            <a:r>
              <a:rPr sz="1200" b="1">
                <a:solidFill>
                  <a:srgbClr val="D55E00"/>
                </a:solidFill>
                <a:latin typeface="Segoe UI"/>
              </a:rPr>
              <a:t>DỮ LIỆU CẦN BỔ SUNG</a:t>
            </a:r>
          </a:p>
        </p:txBody>
      </p:sp>
      <p:sp>
        <p:nvSpPr>
          <p:cNvPr id="3" name="TextBox 2"/>
          <p:cNvSpPr txBox="1"/>
          <p:nvPr/>
        </p:nvSpPr>
        <p:spPr>
          <a:xfrm>
            <a:off x="566928" y="713232"/>
            <a:ext cx="11055096" cy="859536"/>
          </a:xfrm>
          <a:prstGeom prst="rect">
            <a:avLst/>
          </a:prstGeom>
          <a:noFill/>
        </p:spPr>
        <p:txBody>
          <a:bodyPr wrap="none" lIns="50800" rIns="50800" tIns="25400" bIns="25400">
            <a:spAutoFit/>
          </a:bodyPr>
          <a:lstStyle/>
          <a:p>
            <a:pPr algn="l">
              <a:lnSpc>
                <a:spcPts val="3720"/>
              </a:lnSpc>
              <a:spcBef>
                <a:spcPts val="0"/>
              </a:spcBef>
              <a:spcAft>
                <a:spcPts val="0"/>
              </a:spcAft>
            </a:pPr>
            <a:r>
              <a:rPr sz="3000" b="1">
                <a:solidFill>
                  <a:srgbClr val="374151"/>
                </a:solidFill>
                <a:latin typeface="Segoe UI"/>
              </a:rPr>
              <a:t>Mỗi hướng nghiên cứu cần dữ liệu phù hợp</a:t>
            </a:r>
          </a:p>
        </p:txBody>
      </p:sp>
      <p:sp>
        <p:nvSpPr>
          <p:cNvPr id="4" name="Rectangle 3"/>
          <p:cNvSpPr/>
          <p:nvPr/>
        </p:nvSpPr>
        <p:spPr>
          <a:xfrm>
            <a:off x="566928" y="1636776"/>
            <a:ext cx="11055096" cy="16459"/>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93392"/>
            <a:ext cx="5175504" cy="658368"/>
          </a:xfrm>
          <a:prstGeom prst="rect">
            <a:avLst/>
          </a:prstGeom>
          <a:noFill/>
        </p:spPr>
        <p:txBody>
          <a:bodyPr wrap="none" lIns="50800" rIns="50800" tIns="25400" bIns="25400">
            <a:spAutoFit/>
          </a:bodyPr>
          <a:lstStyle/>
          <a:p>
            <a:pPr algn="l">
              <a:lnSpc>
                <a:spcPts val="2418"/>
              </a:lnSpc>
              <a:spcBef>
                <a:spcPts val="0"/>
              </a:spcBef>
              <a:spcAft>
                <a:spcPts val="0"/>
              </a:spcAft>
            </a:pPr>
            <a:r>
              <a:rPr sz="1950" b="1">
                <a:solidFill>
                  <a:srgbClr val="0072B2"/>
                </a:solidFill>
                <a:latin typeface="Segoe UI"/>
              </a:rPr>
              <a:t>Chi phí đầu tư và vận hành theo công nghệ</a:t>
            </a:r>
          </a:p>
        </p:txBody>
      </p:sp>
      <p:sp>
        <p:nvSpPr>
          <p:cNvPr id="6" name="TextBox 5"/>
          <p:cNvSpPr txBox="1"/>
          <p:nvPr/>
        </p:nvSpPr>
        <p:spPr>
          <a:xfrm>
            <a:off x="6281928" y="1993392"/>
            <a:ext cx="5221224" cy="658368"/>
          </a:xfrm>
          <a:prstGeom prst="rect">
            <a:avLst/>
          </a:prstGeom>
          <a:noFill/>
        </p:spPr>
        <p:txBody>
          <a:bodyPr wrap="none" lIns="50800" rIns="50800" tIns="25400" bIns="25400">
            <a:spAutoFit/>
          </a:bodyPr>
          <a:lstStyle/>
          <a:p>
            <a:pPr algn="l">
              <a:lnSpc>
                <a:spcPts val="2356"/>
              </a:lnSpc>
              <a:spcBef>
                <a:spcPts val="0"/>
              </a:spcBef>
              <a:spcAft>
                <a:spcPts val="0"/>
              </a:spcAft>
            </a:pPr>
            <a:r>
              <a:rPr sz="1900" b="0">
                <a:solidFill>
                  <a:srgbClr val="374151"/>
                </a:solidFill>
                <a:latin typeface="Segoe UI"/>
              </a:rPr>
              <a:t>So sánh phương án phát triển nguồn điện</a:t>
            </a:r>
          </a:p>
        </p:txBody>
      </p:sp>
      <p:sp>
        <p:nvSpPr>
          <p:cNvPr id="7" name="Rectangle 6"/>
          <p:cNvSpPr/>
          <p:nvPr/>
        </p:nvSpPr>
        <p:spPr>
          <a:xfrm>
            <a:off x="685800" y="2724912"/>
            <a:ext cx="10817352" cy="9144"/>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862072"/>
            <a:ext cx="5175504" cy="658368"/>
          </a:xfrm>
          <a:prstGeom prst="rect">
            <a:avLst/>
          </a:prstGeom>
          <a:noFill/>
        </p:spPr>
        <p:txBody>
          <a:bodyPr wrap="none" lIns="50800" rIns="50800" tIns="25400" bIns="25400">
            <a:spAutoFit/>
          </a:bodyPr>
          <a:lstStyle/>
          <a:p>
            <a:pPr algn="l">
              <a:lnSpc>
                <a:spcPts val="2480"/>
              </a:lnSpc>
              <a:spcBef>
                <a:spcPts val="0"/>
              </a:spcBef>
              <a:spcAft>
                <a:spcPts val="0"/>
              </a:spcAft>
            </a:pPr>
            <a:r>
              <a:rPr sz="2000" b="1">
                <a:solidFill>
                  <a:srgbClr val="0072B2"/>
                </a:solidFill>
                <a:latin typeface="Segoe UI"/>
              </a:rPr>
              <a:t>Phụ tải, phát điện theo giờ và truyền tải</a:t>
            </a:r>
          </a:p>
        </p:txBody>
      </p:sp>
      <p:sp>
        <p:nvSpPr>
          <p:cNvPr id="9" name="TextBox 8"/>
          <p:cNvSpPr txBox="1"/>
          <p:nvPr/>
        </p:nvSpPr>
        <p:spPr>
          <a:xfrm>
            <a:off x="6281928" y="2862072"/>
            <a:ext cx="5221224" cy="658368"/>
          </a:xfrm>
          <a:prstGeom prst="rect">
            <a:avLst/>
          </a:prstGeom>
          <a:noFill/>
        </p:spPr>
        <p:txBody>
          <a:bodyPr wrap="none" lIns="50800" rIns="50800" tIns="25400" bIns="25400">
            <a:spAutoFit/>
          </a:bodyPr>
          <a:lstStyle/>
          <a:p>
            <a:pPr algn="l">
              <a:lnSpc>
                <a:spcPts val="2356"/>
              </a:lnSpc>
              <a:spcBef>
                <a:spcPts val="0"/>
              </a:spcBef>
              <a:spcAft>
                <a:spcPts val="0"/>
              </a:spcAft>
            </a:pPr>
            <a:r>
              <a:rPr sz="1900" b="0">
                <a:solidFill>
                  <a:srgbClr val="374151"/>
                </a:solidFill>
                <a:latin typeface="Segoe UI"/>
              </a:rPr>
              <a:t>Đánh giá lưu trữ và khả năng trao đổi điện</a:t>
            </a:r>
          </a:p>
        </p:txBody>
      </p:sp>
      <p:sp>
        <p:nvSpPr>
          <p:cNvPr id="10" name="Rectangle 9"/>
          <p:cNvSpPr/>
          <p:nvPr/>
        </p:nvSpPr>
        <p:spPr>
          <a:xfrm>
            <a:off x="685800" y="3593591"/>
            <a:ext cx="10817352" cy="9144"/>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730752"/>
            <a:ext cx="5175504" cy="658368"/>
          </a:xfrm>
          <a:prstGeom prst="rect">
            <a:avLst/>
          </a:prstGeom>
          <a:noFill/>
        </p:spPr>
        <p:txBody>
          <a:bodyPr wrap="none" lIns="50800" rIns="50800" tIns="25400" bIns="25400">
            <a:spAutoFit/>
          </a:bodyPr>
          <a:lstStyle/>
          <a:p>
            <a:pPr algn="l">
              <a:lnSpc>
                <a:spcPts val="2480"/>
              </a:lnSpc>
              <a:spcBef>
                <a:spcPts val="0"/>
              </a:spcBef>
              <a:spcAft>
                <a:spcPts val="0"/>
              </a:spcAft>
            </a:pPr>
            <a:r>
              <a:rPr sz="2000" b="1">
                <a:solidFill>
                  <a:srgbClr val="0072B2"/>
                </a:solidFill>
                <a:latin typeface="Segoe UI"/>
              </a:rPr>
              <a:t>Mốc chính sách và cơ chế giá từng nước</a:t>
            </a:r>
          </a:p>
        </p:txBody>
      </p:sp>
      <p:sp>
        <p:nvSpPr>
          <p:cNvPr id="12" name="TextBox 11"/>
          <p:cNvSpPr txBox="1"/>
          <p:nvPr/>
        </p:nvSpPr>
        <p:spPr>
          <a:xfrm>
            <a:off x="6281928" y="3730752"/>
            <a:ext cx="5221224" cy="658368"/>
          </a:xfrm>
          <a:prstGeom prst="rect">
            <a:avLst/>
          </a:prstGeom>
          <a:noFill/>
        </p:spPr>
        <p:txBody>
          <a:bodyPr wrap="none" lIns="50800" rIns="50800" tIns="25400" bIns="25400">
            <a:spAutoFit/>
          </a:bodyPr>
          <a:lstStyle/>
          <a:p>
            <a:pPr algn="l">
              <a:lnSpc>
                <a:spcPts val="2356"/>
              </a:lnSpc>
              <a:spcBef>
                <a:spcPts val="0"/>
              </a:spcBef>
              <a:spcAft>
                <a:spcPts val="0"/>
              </a:spcAft>
            </a:pPr>
            <a:r>
              <a:rPr sz="1900" b="0">
                <a:solidFill>
                  <a:srgbClr val="374151"/>
                </a:solidFill>
                <a:latin typeface="Segoe UI"/>
              </a:rPr>
              <a:t>Thiết kế phân tích tác động chính sách</a:t>
            </a:r>
          </a:p>
        </p:txBody>
      </p:sp>
      <p:sp>
        <p:nvSpPr>
          <p:cNvPr id="13" name="Rectangle 12"/>
          <p:cNvSpPr/>
          <p:nvPr/>
        </p:nvSpPr>
        <p:spPr>
          <a:xfrm>
            <a:off x="685800" y="4462272"/>
            <a:ext cx="10817352" cy="9144"/>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4599431"/>
            <a:ext cx="5175504" cy="658368"/>
          </a:xfrm>
          <a:prstGeom prst="rect">
            <a:avLst/>
          </a:prstGeom>
          <a:noFill/>
        </p:spPr>
        <p:txBody>
          <a:bodyPr wrap="none" lIns="50800" rIns="50800" tIns="25400" bIns="25400">
            <a:spAutoFit/>
          </a:bodyPr>
          <a:lstStyle/>
          <a:p>
            <a:pPr algn="l">
              <a:lnSpc>
                <a:spcPts val="2480"/>
              </a:lnSpc>
              <a:spcBef>
                <a:spcPts val="0"/>
              </a:spcBef>
              <a:spcAft>
                <a:spcPts val="0"/>
              </a:spcAft>
            </a:pPr>
            <a:r>
              <a:rPr sz="2000" b="1">
                <a:solidFill>
                  <a:srgbClr val="0072B2"/>
                </a:solidFill>
                <a:latin typeface="Segoe UI"/>
              </a:rPr>
              <a:t>Công suất, dân số và tổng sản lượng điện</a:t>
            </a:r>
          </a:p>
        </p:txBody>
      </p:sp>
      <p:sp>
        <p:nvSpPr>
          <p:cNvPr id="15" name="TextBox 14"/>
          <p:cNvSpPr txBox="1"/>
          <p:nvPr/>
        </p:nvSpPr>
        <p:spPr>
          <a:xfrm>
            <a:off x="6281928" y="4599431"/>
            <a:ext cx="5221224" cy="658368"/>
          </a:xfrm>
          <a:prstGeom prst="rect">
            <a:avLst/>
          </a:prstGeom>
          <a:noFill/>
        </p:spPr>
        <p:txBody>
          <a:bodyPr wrap="none" lIns="50800" rIns="50800" tIns="25400" bIns="25400">
            <a:spAutoFit/>
          </a:bodyPr>
          <a:lstStyle/>
          <a:p>
            <a:pPr algn="l">
              <a:lnSpc>
                <a:spcPts val="2356"/>
              </a:lnSpc>
              <a:spcBef>
                <a:spcPts val="0"/>
              </a:spcBef>
              <a:spcAft>
                <a:spcPts val="0"/>
              </a:spcAft>
            </a:pPr>
            <a:r>
              <a:rPr sz="1900" b="0">
                <a:solidFill>
                  <a:srgbClr val="374151"/>
                </a:solidFill>
                <a:latin typeface="Segoe UI"/>
              </a:rPr>
              <a:t>So sánh có cùng quy mô và độ phủ</a:t>
            </a:r>
          </a:p>
        </p:txBody>
      </p:sp>
      <p:sp>
        <p:nvSpPr>
          <p:cNvPr id="16" name="Rectangle 15"/>
          <p:cNvSpPr/>
          <p:nvPr/>
        </p:nvSpPr>
        <p:spPr>
          <a:xfrm>
            <a:off x="685800" y="5330951"/>
            <a:ext cx="10817352" cy="9144"/>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446520"/>
            <a:ext cx="10469880" cy="219456"/>
          </a:xfrm>
          <a:prstGeom prst="rect">
            <a:avLst/>
          </a:prstGeom>
          <a:noFill/>
        </p:spPr>
        <p:txBody>
          <a:bodyPr wrap="none" lIns="50800" rIns="50800" tIns="25400" bIns="25400">
            <a:spAutoFit/>
          </a:bodyPr>
          <a:lstStyle/>
          <a:p>
            <a:pPr algn="l">
              <a:lnSpc>
                <a:spcPts val="1178"/>
              </a:lnSpc>
              <a:spcBef>
                <a:spcPts val="0"/>
              </a:spcBef>
              <a:spcAft>
                <a:spcPts val="0"/>
              </a:spcAft>
            </a:pPr>
            <a:r>
              <a:rPr sz="950" b="0">
                <a:solidFill>
                  <a:srgbClr val="6B7280"/>
                </a:solidFill>
                <a:latin typeface="Segoe UI"/>
              </a:rPr>
              <a:t>Nguồn: Our World in Data, tổng hợp từ Ember và BP · 10 nước ASEAN · 2000–2021</a:t>
            </a:r>
          </a:p>
        </p:txBody>
      </p:sp>
      <p:sp>
        <p:nvSpPr>
          <p:cNvPr id="18" name="TextBox 17"/>
          <p:cNvSpPr txBox="1"/>
          <p:nvPr/>
        </p:nvSpPr>
        <p:spPr>
          <a:xfrm>
            <a:off x="11109960" y="6446520"/>
            <a:ext cx="457200" cy="219456"/>
          </a:xfrm>
          <a:prstGeom prst="rect">
            <a:avLst/>
          </a:prstGeom>
          <a:noFill/>
        </p:spPr>
        <p:txBody>
          <a:bodyPr wrap="none" lIns="50800" rIns="50800" tIns="25400" bIns="25400">
            <a:spAutoFit/>
          </a:bodyPr>
          <a:lstStyle/>
          <a:p>
            <a:pPr algn="r">
              <a:lnSpc>
                <a:spcPts val="1178"/>
              </a:lnSpc>
              <a:spcBef>
                <a:spcPts val="0"/>
              </a:spcBef>
              <a:spcAft>
                <a:spcPts val="0"/>
              </a:spcAft>
            </a:pPr>
            <a:r>
              <a:rPr sz="950" b="0">
                <a:solidFill>
                  <a:srgbClr val="6B7280"/>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2240280"/>
            <a:ext cx="10881360" cy="1005840"/>
          </a:xfrm>
          <a:prstGeom prst="rect">
            <a:avLst/>
          </a:prstGeom>
          <a:noFill/>
        </p:spPr>
        <p:txBody>
          <a:bodyPr wrap="none" lIns="50800" rIns="50800" tIns="25400" bIns="25400">
            <a:spAutoFit/>
          </a:bodyPr>
          <a:lstStyle/>
          <a:p>
            <a:pPr algn="l">
              <a:lnSpc>
                <a:spcPts val="6695"/>
              </a:lnSpc>
              <a:spcBef>
                <a:spcPts val="0"/>
              </a:spcBef>
              <a:spcAft>
                <a:spcPts val="0"/>
              </a:spcAft>
            </a:pPr>
            <a:r>
              <a:rPr sz="5400" b="1">
                <a:solidFill>
                  <a:srgbClr val="374151"/>
                </a:solidFill>
                <a:latin typeface="Segoe UI"/>
              </a:rPr>
              <a:t>Xin cảm ơn</a:t>
            </a:r>
          </a:p>
        </p:txBody>
      </p:sp>
      <p:sp>
        <p:nvSpPr>
          <p:cNvPr id="3" name="Rectangle 2"/>
          <p:cNvSpPr/>
          <p:nvPr/>
        </p:nvSpPr>
        <p:spPr>
          <a:xfrm>
            <a:off x="658368" y="3557016"/>
            <a:ext cx="2926080" cy="32004"/>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0"/>
            <a:ext cx="10881360" cy="594360"/>
          </a:xfrm>
          <a:prstGeom prst="rect">
            <a:avLst/>
          </a:prstGeom>
          <a:noFill/>
        </p:spPr>
        <p:txBody>
          <a:bodyPr wrap="none" lIns="50800" rIns="50800" tIns="25400" bIns="25400">
            <a:spAutoFit/>
          </a:bodyPr>
          <a:lstStyle/>
          <a:p>
            <a:pPr algn="l">
              <a:lnSpc>
                <a:spcPts val="3347"/>
              </a:lnSpc>
              <a:spcBef>
                <a:spcPts val="0"/>
              </a:spcBef>
              <a:spcAft>
                <a:spcPts val="0"/>
              </a:spcAft>
            </a:pPr>
            <a:r>
              <a:rPr sz="2700" b="0">
                <a:solidFill>
                  <a:srgbClr val="D55E00"/>
                </a:solidFill>
                <a:latin typeface="Segoe UI"/>
              </a:rPr>
              <a:t>Trao đổi và câu hỏi</a:t>
            </a:r>
          </a:p>
        </p:txBody>
      </p:sp>
      <p:sp>
        <p:nvSpPr>
          <p:cNvPr id="5" name="TextBox 4"/>
          <p:cNvSpPr txBox="1"/>
          <p:nvPr/>
        </p:nvSpPr>
        <p:spPr>
          <a:xfrm>
            <a:off x="658368" y="5010912"/>
            <a:ext cx="10881360" cy="749808"/>
          </a:xfrm>
          <a:prstGeom prst="rect">
            <a:avLst/>
          </a:prstGeom>
          <a:noFill/>
        </p:spPr>
        <p:txBody>
          <a:bodyPr wrap="none" lIns="50800" rIns="50800" tIns="25400" bIns="25400">
            <a:spAutoFit/>
          </a:bodyPr>
          <a:lstStyle/>
          <a:p>
            <a:pPr algn="l">
              <a:lnSpc>
                <a:spcPts val="2108"/>
              </a:lnSpc>
              <a:spcBef>
                <a:spcPts val="0"/>
              </a:spcBef>
              <a:spcAft>
                <a:spcPts val="0"/>
              </a:spcAft>
            </a:pPr>
            <a:r>
              <a:rPr sz="1700" b="0">
                <a:solidFill>
                  <a:srgbClr val="6B7280"/>
                </a:solidFill>
                <a:latin typeface="Segoe UI"/>
              </a:rPr>
              <a:t>Điện tái tạo tại mười nước ASEAN · Giai đoạn 2000–2021</a:t>
            </a:r>
          </a:p>
          <a:p>
            <a:pPr algn="l">
              <a:lnSpc>
                <a:spcPts val="2108"/>
              </a:lnSpc>
              <a:spcBef>
                <a:spcPts val="0"/>
              </a:spcBef>
              <a:spcAft>
                <a:spcPts val="0"/>
              </a:spcAft>
            </a:pPr>
            <a:r>
              <a:rPr sz="1700" b="0">
                <a:solidFill>
                  <a:srgbClr val="6B7280"/>
                </a:solidFill>
                <a:latin typeface="Segoe UI"/>
              </a:rPr>
              <a:t>Nguyễn Hồng Minh</a:t>
            </a:r>
          </a:p>
        </p:txBody>
      </p:sp>
      <p:sp>
        <p:nvSpPr>
          <p:cNvPr id="6" name="TextBox 5"/>
          <p:cNvSpPr txBox="1"/>
          <p:nvPr/>
        </p:nvSpPr>
        <p:spPr>
          <a:xfrm>
            <a:off x="566928" y="6446520"/>
            <a:ext cx="10469880" cy="219456"/>
          </a:xfrm>
          <a:prstGeom prst="rect">
            <a:avLst/>
          </a:prstGeom>
          <a:noFill/>
        </p:spPr>
        <p:txBody>
          <a:bodyPr wrap="none" lIns="50800" rIns="50800" tIns="25400" bIns="25400">
            <a:spAutoFit/>
          </a:bodyPr>
          <a:lstStyle/>
          <a:p>
            <a:pPr algn="l">
              <a:lnSpc>
                <a:spcPts val="1178"/>
              </a:lnSpc>
              <a:spcBef>
                <a:spcPts val="0"/>
              </a:spcBef>
              <a:spcAft>
                <a:spcPts val="0"/>
              </a:spcAft>
            </a:pPr>
            <a:r>
              <a:rPr sz="950" b="0">
                <a:solidFill>
                  <a:srgbClr val="6B7280"/>
                </a:solidFill>
                <a:latin typeface="Segoe UI"/>
              </a:rPr>
              <a:t>Nguồn: Our World in Data, tổng hợp từ Ember và BP · 10 nước ASEAN · 2000–2021</a:t>
            </a:r>
          </a:p>
        </p:txBody>
      </p:sp>
      <p:sp>
        <p:nvSpPr>
          <p:cNvPr id="7" name="TextBox 6"/>
          <p:cNvSpPr txBox="1"/>
          <p:nvPr/>
        </p:nvSpPr>
        <p:spPr>
          <a:xfrm>
            <a:off x="11109960" y="6446520"/>
            <a:ext cx="457200" cy="219456"/>
          </a:xfrm>
          <a:prstGeom prst="rect">
            <a:avLst/>
          </a:prstGeom>
          <a:noFill/>
        </p:spPr>
        <p:txBody>
          <a:bodyPr wrap="none" lIns="50800" rIns="50800" tIns="25400" bIns="25400">
            <a:spAutoFit/>
          </a:bodyPr>
          <a:lstStyle/>
          <a:p>
            <a:pPr algn="r">
              <a:lnSpc>
                <a:spcPts val="1178"/>
              </a:lnSpc>
              <a:spcBef>
                <a:spcPts val="0"/>
              </a:spcBef>
              <a:spcAft>
                <a:spcPts val="0"/>
              </a:spcAft>
            </a:pPr>
            <a:r>
              <a:rPr sz="950" b="0">
                <a:solidFill>
                  <a:srgbClr val="6B7280"/>
                </a:solidFill>
                <a:latin typeface="Segoe U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Điện tái tạo tại Đông Nam Á: quy mô, cơ cấu và vị trí của Việt Nam</dc:title>
  <dc:subject/>
  <dc:creator>Nguyễn Hồng Minh</dc:creator>
  <cp:keywords/>
  <dc:description/>
  <cp:lastModifiedBy>Nguyễn Hồng Minh</cp:lastModifiedBy>
  <cp:revision>1</cp:revision>
  <dcterms:created xsi:type="dcterms:W3CDTF">2026-01-01T00:00:00Z</dcterms:created>
  <dcterms:modified xsi:type="dcterms:W3CDTF">2026-01-01T00:00:00Z</dcterms:modified>
  <cp:category/>
</cp:coreProperties>
</file>