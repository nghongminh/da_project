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bằng con số trước, tên nước sau. Để người nghe đoán một nhịp rồi mới xác nhận.</a:t>
            </a:r>
          </a:p>
          <a:p/>
          <a:p>
            <a:r>
              <a:t>"Năm 2021, một nước duy nhất chiếm gần hai phần ba toàn bộ sản lượng gió và mặt</a:t>
            </a:r>
          </a:p>
          <a:p>
            <a:r>
              <a:t>trời của cả mười nước ASEAN. Nước đó là Việt Nam."</a:t>
            </a:r>
          </a:p>
          <a:p/>
          <a:p>
            <a:r>
              <a:t>Rồi đặt câu hỏi trung tâm: con số ấy nói lên điều gì về chuyển dịch năng lượng</a:t>
            </a:r>
          </a:p>
          <a:p>
            <a:r>
              <a:t>của khu vực, và về vị trí của Việt Nam trong đó.</a:t>
            </a:r>
          </a:p>
          <a:p/>
          <a:p>
            <a:r>
              <a:t>Không đi vào phương pháp ở slide này. Chỉ một câu hỏi và một con số.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Lướt nhanh, khoảng hai mươi giây. Mục đích chỉ là cho người nghe biết mạch bài</a:t>
            </a:r>
          </a:p>
          <a:p>
            <a:r>
              <a:t>trước khi con số đầu tiên xuất hiện.</a:t>
            </a:r>
          </a:p>
          <a:p/>
          <a:p>
            <a:r>
              <a:t>Nếu cần nói một câu về cấu trúc: bài đi theo thứ tự câu hỏi trước, chất lượng dữ</a:t>
            </a:r>
          </a:p>
          <a:p>
            <a:r>
              <a:t>liệu trước, rồi mới đến phát hiện — vì phát hiện chỉ đáng tin khi biết dữ liệu</a:t>
            </a:r>
          </a:p>
          <a:p>
            <a:r>
              <a:t>đứng sau nó đã được kiểm thế nào.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trung tâm: Đông Nam Á chuyển dịch sang năng lượng tái tạo đến đâu, và</a:t>
            </a:r>
          </a:p>
          <a:p>
            <a:r>
              <a:t>Việt Nam đứng ở đâu trong đó.</a:t>
            </a:r>
          </a:p>
          <a:p/>
          <a:p>
            <a:r>
              <a:t>Sáu câu hỏi con thu hẹp dần: từ khu vực so với thế giới (Q1), xuống cơ cấu công</a:t>
            </a:r>
          </a:p>
          <a:p>
            <a:r>
              <a:t>nghệ (Q2), sang cách đo (Q3), rồi tới Việt Nam (Q4), quan hệ sản lượng và tỷ</a:t>
            </a:r>
          </a:p>
          <a:p>
            <a:r>
              <a:t>trọng (Q5), và cuối cùng là mức tập trung (Q6).</a:t>
            </a:r>
          </a:p>
          <a:p/>
          <a:p>
            <a:r>
              <a:t>Điểm đáng nhấn: mỗi câu hỏi con gắn với một chỉ số cụ thể tính được từ dữ liệu.</a:t>
            </a:r>
          </a:p>
          <a:p>
            <a:r>
              <a:t>Không câu nào đặt ra rồi bỏ ngỏ — cả sáu đều được trả lời bằng số ở phần sau.</a:t>
            </a:r>
          </a:p>
          <a:p/>
          <a:p>
            <a:r>
              <a:t>Về đối tượng dùng kết quả: nói ngắn thôi, một câu mỗi nhóm. Ý chính là báo cáo</a:t>
            </a:r>
          </a:p>
          <a:p>
            <a:r>
              <a:t>này có người đọc cụ thể, nên phần đề xuất ở cuối được viết cho họ chứ không phải</a:t>
            </a:r>
          </a:p>
          <a:p>
            <a:r>
              <a:t>viết chung chung.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Nói giới hạn TRƯỚC khi trình bày phát hiện, không phải sau. Đây là lựa chọn có</a:t>
            </a:r>
          </a:p>
          <a:p>
            <a:r>
              <a:t>chủ ý: biết ranh giới của dữ liệu là điều kiện để đọc đúng mọi con số phía sau.</a:t>
            </a:r>
          </a:p>
          <a:p/>
          <a:p>
            <a:r>
              <a:t>Sáu nhóm dữ liệu không có: giá thành và suất đầu tư · chính sách và cơ chế giá ·</a:t>
            </a:r>
          </a:p>
          <a:p>
            <a:r>
              <a:t>dân số và GDP · phát thải · gió tách trên bờ và ngoài khơi · công suất đầy đủ cho</a:t>
            </a:r>
          </a:p>
          <a:p>
            <a:r>
              <a:t>mọi nước và mọi công nghệ.</a:t>
            </a:r>
          </a:p>
          <a:p/>
          <a:p>
            <a:r>
              <a:t>Biểu đồ bên phải là ví dụ cụ thể của giới hạn cuối cùng: hệ số công suất chỉ tính</a:t>
            </a:r>
          </a:p>
          <a:p>
            <a:r>
              <a:t>được ở những nước có ĐỦ CẢ sản lượng lẫn công suất — 104 cặp nước-năm. Biểu đồ ghi</a:t>
            </a:r>
          </a:p>
          <a:p>
            <a:r>
              <a:t>thẳng tên nước bị thiếu thay vì lặng lẽ bỏ qua.</a:t>
            </a:r>
          </a:p>
          <a:p/>
          <a:p>
            <a:r>
              <a:t>Câu chốt: báo cáo này mô tả điều đã xảy ra và mức độ, nhưng không giải thích</a:t>
            </a:r>
          </a:p>
          <a:p>
            <a:r>
              <a:t>nguyên nhân. Mọi câu trả lời cho "vì sao" đều nằm ngoài phạm vi.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nửa đầu của cặp slide quan trọng nhất bài. Thông điệp: dữ liệu này KHÔNG</a:t>
            </a:r>
          </a:p>
          <a:p>
            <a:r>
              <a:t>sạch sẵn, và bốn khuyết điểm dưới đây đều thuộc loại không ném ra lỗi nào.</a:t>
            </a:r>
          </a:p>
          <a:p/>
          <a:p>
            <a:r>
              <a:t>1. GHÉP SAI KIỂU. 17 file phủ rất khác nhau, từ 251 xuống 33 thực thể. INNER JOIN</a:t>
            </a:r>
          </a:p>
          <a:p>
            <a:r>
              <a:t>   toàn bộ chỉ giữ 3,125% thực thể và 1,87% khoá — mất khoảng 97% dữ liệu mà</a:t>
            </a:r>
          </a:p>
          <a:p>
            <a:r>
              <a:t>   pandas không cảnh báo gì. Cách chặn: dựng spine rồi LEFT JOIN.</a:t>
            </a:r>
          </a:p>
          <a:p/>
          <a:p>
            <a:r>
              <a:t>2. FILE TRÙNG. Ba file 05, 08, 12 là tập con dư thừa của các cột tương ứng trong</a:t>
            </a:r>
          </a:p>
          <a:p>
            <a:r>
              <a:t>   file 03. Dùng cả hai là đếm hai lần cùng một lượng điện.</a:t>
            </a:r>
          </a:p>
          <a:p/>
          <a:p>
            <a:r>
              <a:t>3. NĂM 2022 BỊ CẮT CỤT ở 8 file, và có 0 nước ASEAN. Giữ lại thì mọi chuỗi thời</a:t>
            </a:r>
          </a:p>
          <a:p>
            <a:r>
              <a:t>   gian có một cú sụt giả ở cuối — trông y hệt một sự suy giảm thật.</a:t>
            </a:r>
          </a:p>
          <a:p/>
          <a:p>
            <a:r>
              <a:t>4. VỰC COVERAGE tại năm 2000: panel nhảy từ 106 lên 247 thực thể vì nguồn dữ liệu</a:t>
            </a:r>
          </a:p>
          <a:p>
            <a:r>
              <a:t>   đổi. Nếu tính "% số nước" bằng cách chia cho số dòng từng năm thì tạo ra cú sụt</a:t>
            </a:r>
          </a:p>
          <a:p>
            <a:r>
              <a:t>   giả thứ hai, đúng tại năm 2000.</a:t>
            </a:r>
          </a:p>
          <a:p/>
          <a:p>
            <a:r>
              <a:t>Điểm cần nói rõ: cả bốn đều được phát hiện bằng khảo sát có hệ thống, không phải</a:t>
            </a:r>
          </a:p>
          <a:p>
            <a:r>
              <a:t>tình cờ. Slide sau nói cách chứng minh đã xử lý đúng.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Nửa sau của cặp slide tạo khác biệt. Thông điệp: làm sạch dữ liệu là một chuyện,</a:t>
            </a:r>
          </a:p>
          <a:p>
            <a:r>
              <a:t>CHỨNG MINH đã làm đúng là chuyện khác — và đây là phần chứng minh.</a:t>
            </a:r>
          </a:p>
          <a:p/>
          <a:p>
            <a:r>
              <a:t>Bốn ý trên slide, nói kỹ hơn:</a:t>
            </a:r>
          </a:p>
          <a:p/>
          <a:p>
            <a:r>
              <a:t>1. ĐỐI CHIẾU. V1 kiểm tổng tất cả các nước so với dòng "World" từng năm; V2 kiểm</a:t>
            </a:r>
          </a:p>
          <a:p>
            <a:r>
              <a:t>   tổng sáu châu lục; V3 kiểm tổng bốn nhóm thu nhập. Ba đường đi độc lập tới cùng</a:t>
            </a:r>
          </a:p>
          <a:p>
            <a:r>
              <a:t>   một con số.</a:t>
            </a:r>
          </a:p>
          <a:p/>
          <a:p>
            <a:r>
              <a:t>2. GIÁ TRỊ 0. Không xoá, không nội suy. Phân loại thành Zero / Trace / Material</a:t>
            </a:r>
          </a:p>
          <a:p>
            <a:r>
              <a:t>   theo ngưỡng 0,05 TWh. Số 0 ở đây nghĩa là "nước đó thật sự không sản xuất" —</a:t>
            </a:r>
          </a:p>
          <a:p>
            <a:r>
              <a:t>   xoá đi là mất chính phát hiện cần tìm, vì gió và mặt trời ASEAN xuất phát từ 0.</a:t>
            </a:r>
          </a:p>
          <a:p/>
          <a:p>
            <a:r>
              <a:t>3. CHÊNH LỆCH GIỮA NGUỒN. File 02 và 03 lệch ở mức đáng kể tại các thực thể tổng</a:t>
            </a:r>
          </a:p>
          <a:p>
            <a:r>
              <a:t>   hợp. Không gộp cho khớp: chọn một nguồn chuẩn, ghi rõ lý do, giữ nguồn kia làm</a:t>
            </a:r>
          </a:p>
          <a:p>
            <a:r>
              <a:t>   đối chiếu.</a:t>
            </a:r>
          </a:p>
          <a:p/>
          <a:p>
            <a:r>
              <a:t>4. TÁI LẬP. Chạy lại toàn bộ quy trình cho CSV giống hệt từng byte. 17 file gốc</a:t>
            </a:r>
          </a:p>
          <a:p>
            <a:r>
              <a:t>   giữ nguyên mã băm — không bị sửa dòng nào.</a:t>
            </a:r>
          </a:p>
          <a:p/>
          <a:p>
            <a:r>
              <a:t>Số trên slide: 89.075 dòng dữ kiện, 8 kiểm định V1–V8 viết bằng SQL, 864 kết quả</a:t>
            </a:r>
          </a:p>
          <a:p>
            <a:r>
              <a:t>kiểm định được ghi lại, 0 dòng chặn không đạt.</a:t>
            </a:r>
          </a:p>
          <a:p/>
          <a:p>
            <a:r>
              <a:t>NẾU BỊ HỎI "sao phải phức tạp thế": vì bốn khuyết điểm ở slide trước đều im lặng.</a:t>
            </a:r>
          </a:p>
          <a:p>
            <a:r>
              <a:t>Thứ không báo lỗi thì chỉ có kiểm định mới bắt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này trả lời một câu hỏi phương pháp: vì sao đề bài đòi phân vị chứ không</a:t>
            </a:r>
          </a:p>
          <a:p>
            <a:r>
              <a:t>chỉ trung bình.</a:t>
            </a:r>
          </a:p>
          <a:p/>
          <a:p>
            <a:r>
              <a:t>Lấy mặt trời ASEAN năm 2021 làm ví dụ. Trung bình 3,443 TWh. Trung vị 0,52 TWh.</a:t>
            </a:r>
          </a:p>
          <a:p>
            <a:r>
              <a:t>Trung bình cao gấp hơn SÁU LẦN trung vị.</a:t>
            </a:r>
          </a:p>
          <a:p/>
          <a:p>
            <a:r>
              <a:t>Nguyên nhân: phân phối lệch phải rất mạnh. Độ lệch 3,01 và hệ số biến thiên 2,19.</a:t>
            </a:r>
          </a:p>
          <a:p>
            <a:r>
              <a:t>Một vài nước sản lượng lớn kéo trung bình lên cao trong khi phần lớn còn lại vẫn</a:t>
            </a:r>
          </a:p>
          <a:p>
            <a:r>
              <a:t>rất thấp. Nói "nước ASEAN điển hình sản xuất 3,4 TWh điện mặt trời" là sai — một</a:t>
            </a:r>
          </a:p>
          <a:p>
            <a:r>
              <a:t>nửa số nước không đạt tới 0,52.</a:t>
            </a:r>
          </a:p>
          <a:p/>
          <a:p>
            <a:r>
              <a:t>Ba dòng trong bảng là ba tập dữ liệu khác nhau: toàn bộ quan sát, chỉ nước có sản</a:t>
            </a:r>
          </a:p>
          <a:p>
            <a:r>
              <a:t>lượng dương, và chỉ nước ở mức đáng kể. Bỏ dần các nước bằng 0 làm cỡ mẫu giảm từ</a:t>
            </a:r>
          </a:p>
          <a:p>
            <a:r>
              <a:t>10 xuống 9 rồi 8, trung vị nhích lên — nhưng độ lệch vẫn trên 2,7 và hệ số biến</a:t>
            </a:r>
          </a:p>
          <a:p>
            <a:r>
              <a:t>thiên vẫn trên 1,9. Phân phối KHÔNG cân lại.</a:t>
            </a:r>
          </a:p>
          <a:p/>
          <a:p>
            <a:r>
              <a:t>Vì vậy phân vị mới là thống kê đọc được ở đây: P25 = 0,1225 · P50 = 0,52 ·</a:t>
            </a:r>
          </a:p>
          <a:p>
            <a:r>
              <a:t>P75 = 1,5 · P90 = 6,438 TWh.</a:t>
            </a:r>
          </a:p>
          <a:p/>
          <a:p>
            <a:r>
              <a:t>Nếu bị hỏi về công thức: độ lệch chuẩn dùng ddof=0 (tổng thể), độ lệch phân phối</a:t>
            </a:r>
          </a:p>
          <a:p>
            <a:r>
              <a:t>hiệu chỉnh chệch. Cả hai đều ghi ở chân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Phát hiện đầu tiên, và là phát hiện dễ bị kể sai nhất.</a:t>
            </a:r>
          </a:p>
          <a:p/>
          <a:p>
            <a:r>
              <a:t>Đọc riêng con số bên trái thì đây là câu chuyện tăng trưởng mạnh: 72,801 lên</a:t>
            </a:r>
          </a:p>
          <a:p>
            <a:r>
              <a:t>289,656 TWh trong 21 năm, gấp 3,98 lần. Nhiều báo cáo dừng ở đây.</a:t>
            </a:r>
          </a:p>
          <a:p/>
          <a:p>
            <a:r>
              <a:t>Nhưng thế giới cũng tăng trong cùng giai đoạn, từ 2.854,49 lên 7.885,04 TWh —</a:t>
            </a:r>
          </a:p>
          <a:p>
            <a:r>
              <a:t>gấp 2,76 lần. Nên tỷ trọng của ASEAN chỉ nhích từ 2,5504% lên 3,6735%, thêm</a:t>
            </a:r>
          </a:p>
          <a:p>
            <a:r>
              <a:t>khoảng 1,12 điểm phần trăm sau hai thập kỷ.</a:t>
            </a:r>
          </a:p>
          <a:p/>
          <a:p>
            <a:r>
              <a:t>Cách nói gọn: khu vực chạy nhanh, nhưng chạy trong một đoàn đang cùng tăng tốc.</a:t>
            </a:r>
          </a:p>
          <a:p/>
          <a:p>
            <a:r>
              <a:t>Đây cũng là lý do phương pháp: mọi chỗ có thể, báo cáo dùng song song hai thước</a:t>
            </a:r>
          </a:p>
          <a:p>
            <a:r>
              <a:t>đo — sản lượng tuyệt đối và tỷ trọng. Bỏ một trong hai là kể sai.</a:t>
            </a:r>
          </a:p>
          <a:p/>
          <a:p>
            <a:r>
              <a:t>Biểu đồ: hai panel dùng chung trục thời gian, KHÔNG dùng trục kép. Trục kép có</a:t>
            </a:r>
          </a:p>
          <a:p>
            <a:r>
              <a:t>thể tạo ra bất kỳ tương quan nào tuỳ cách chọn thang.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Hai ý trong một slide, nói tách bạch.</a:t>
            </a:r>
          </a:p>
          <a:p/>
          <a:p>
            <a:r>
              <a:t>Ý thứ nhất — nền xuất phát. Năm 2000, tổng sản lượng gió cộng mặt trời của CẢ</a:t>
            </a:r>
          </a:p>
          <a:p>
            <a:r>
              <a:t>MƯỜI nước ASEAN là 0 TWh. Không phải "rất nhỏ" mà đúng bằng không. Năm 2010 mới</a:t>
            </a:r>
          </a:p>
          <a:p>
            <a:r>
              <a:t>đạt 0,13 TWh. Đến 2021 là 42,73 TWh.</a:t>
            </a:r>
          </a:p>
          <a:p/>
          <a:p>
            <a:r>
              <a:t>Hệ quả kỹ thuật đáng nói: vì mẫu số bằng 0, TỐC ĐỘ TĂNG giai đoạn 2000–2021 của</a:t>
            </a:r>
          </a:p>
          <a:p>
            <a:r>
              <a:t>nhóm này KHÔNG TÍNH ĐƯỢC. Mọi công thức tăng trưởng đều cần mẫu số dương. Báo cáo</a:t>
            </a:r>
          </a:p>
          <a:p>
            <a:r>
              <a:t>ghi "không xác định" thay vì điền một con số cho đẹp bảng — đây là chỗ nhiều bài</a:t>
            </a:r>
          </a:p>
          <a:p>
            <a:r>
              <a:t>sẽ vô tình bịa ra một tỷ lệ phần trăm khổng lồ.</a:t>
            </a:r>
          </a:p>
          <a:p/>
          <a:p>
            <a:r>
              <a:t>Ý thứ hai — quy mô hiện tại. Cơ cấu 2021: thuỷ điện 185,58 TWh (64,07%), nguồn</a:t>
            </a:r>
          </a:p>
          <a:p>
            <a:r>
              <a:t>tái tạo khác 61,35 (21,18%), mặt trời 34,43 (11,89%), gió 8,30 (2,87%).</a:t>
            </a:r>
          </a:p>
          <a:p/>
          <a:p>
            <a:r>
              <a:t>Gió cộng mặt trời mới chiếm 14,75%. Nên "bùng nổ điện mặt trời Đông Nam Á" đúng</a:t>
            </a:r>
          </a:p>
          <a:p>
            <a:r>
              <a:t>về tốc độ nhưng chưa đúng về quy mô: cấu trúc nguồn của ASEAN năm 2021 vẫn là</a:t>
            </a:r>
          </a:p>
          <a:p>
            <a:r>
              <a:t>cấu trúc thuỷ điện. Hai câu này chỉ mâu thuẫn khi bỏ mất một thước đo.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Phát hiện có tính phương pháp mạnh nhất bài.</a:t>
            </a:r>
          </a:p>
          <a:p/>
          <a:p>
            <a:r>
              <a:t>Cùng một năm 2021, cùng mười nước, cùng một bộ dữ liệu. Chỉ đổi thước đo từ TỔNG</a:t>
            </a:r>
          </a:p>
          <a:p>
            <a:r>
              <a:t>năng lượng tái tạo sang GIÓ + MẶT TRỜI, thứ hạng đảo lại:</a:t>
            </a:r>
          </a:p>
          <a:p/>
          <a:p>
            <a:r>
              <a:t>  Singapore   9 → 5   (+4)</a:t>
            </a:r>
          </a:p>
          <a:p>
            <a:r>
              <a:t>  Thái Lan    5 → 2   (+3)</a:t>
            </a:r>
          </a:p>
          <a:p>
            <a:r>
              <a:t>  Philippines 6 → 3   (+3)</a:t>
            </a:r>
          </a:p>
          <a:p>
            <a:r>
              <a:t>  Indonesia   2 → 6   (−4)</a:t>
            </a:r>
          </a:p>
          <a:p>
            <a:r>
              <a:t>  Lào         4 → 9   (−5)</a:t>
            </a:r>
          </a:p>
          <a:p/>
          <a:p>
            <a:r>
              <a:t>Giải thích: Indonesia và Lào mạnh về thuỷ điện và địa nhiệt — nguồn tái tạo lâu</a:t>
            </a:r>
          </a:p>
          <a:p>
            <a:r>
              <a:t>đời, phụ thuộc địa hình. Singapore vọt lên 4 bậc dù sản lượng tuyệt đối rất nhỏ,</a:t>
            </a:r>
          </a:p>
          <a:p>
            <a:r>
              <a:t>vì gần như toàn bộ phần tái tạo của họ là điện mặt trời.</a:t>
            </a:r>
          </a:p>
          <a:p/>
          <a:p>
            <a:r>
              <a:t>Chi tiết quan trọng nhất trong bảng: Việt Nam giữ hạng 1 ở CẢ HAI cách đo. Đó là</a:t>
            </a:r>
          </a:p>
          <a:p>
            <a:r>
              <a:t>bằng chứng đây là đảo vị trí thật, không phải cả bảng cùng xê dịch.</a:t>
            </a:r>
          </a:p>
          <a:p/>
          <a:p>
            <a:r>
              <a:t>Kết luận phương pháp: một bảng xếp hạng năng lượng tái tạo không có nghĩa nếu</a:t>
            </a:r>
          </a:p>
          <a:p>
            <a:r>
              <a:t>không nói rõ nó đang đo cái gì. Đây là lý do dashboard đặt công tắc chuyển thước</a:t>
            </a:r>
          </a:p>
          <a:p>
            <a:r>
              <a:t>đo ngay trên hàng bộ lọc, không giấu trong trang phụ.</a:t>
            </a:r>
          </a:p>
          <a:p/>
          <a:p>
            <a:r>
              <a:t>Lưu ý khi trả lời: Thái Lan và Philippines cùng tăng 3 bậc nhưng KHÔNG đồng hạng</a:t>
            </a:r>
          </a:p>
          <a:p>
            <a:r>
              <a:t>— Thái Lan hạng 2, Philippines hạng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Phát hiện trung tâm của phần Việt Nam.</a:t>
            </a:r>
          </a:p>
          <a:p/>
          <a:p>
            <a:r>
              <a:t>Năm 2021 Việt Nam sản xuất 104,2180 TWh năng lượng tái tạo, chiếm 35,9800% toàn</a:t>
            </a:r>
          </a:p>
          <a:p>
            <a:r>
              <a:t>khu vực, đứng hạng 16 thế giới.</a:t>
            </a:r>
          </a:p>
          <a:p/>
          <a:p>
            <a:r>
              <a:t>Riêng gió và mặt trời, mức tập trung cao hơn hẳn: 28,16 TWh, bằng 65,9022% của cả</a:t>
            </a:r>
          </a:p>
          <a:p>
            <a:r>
              <a:t>ASEAN, hạng 17 thế giới.</a:t>
            </a:r>
          </a:p>
          <a:p/>
          <a:p>
            <a:r>
              <a:t>Nhìn theo PHẦN TĂNG THÊM giai đoạn 2010–2021 thì rõ hơn nữa: trong tổng mức tăng</a:t>
            </a:r>
          </a:p>
          <a:p>
            <a:r>
              <a:t>dương của cả khu vực, Việt Nam đóng góp 65,9859% ở gió và mặt trời, và 42,3781%</a:t>
            </a:r>
          </a:p>
          <a:p>
            <a:r>
              <a:t>ở tổng năng lượng tái tạo.</a:t>
            </a:r>
          </a:p>
          <a:p/>
          <a:p>
            <a:r>
              <a:t>Nói cách khác: gần như toàn bộ tăng trưởng gió và mặt trời của Đông Nam Á trong</a:t>
            </a:r>
          </a:p>
          <a:p>
            <a:r>
              <a:t>hơn một thập kỷ đến từ một nước. Chỉ số trung bình của khu vực vì thế gây hiểu</a:t>
            </a:r>
          </a:p>
          <a:p>
            <a:r>
              <a:t>lầm — "ASEAN tăng trưởng điện mặt trời" thực chất là Việt Nam cộng chín nước tăng</a:t>
            </a:r>
          </a:p>
          <a:p>
            <a:r>
              <a:t>chậm hơn nhiều.</a:t>
            </a:r>
          </a:p>
          <a:p/>
          <a:p>
            <a:r>
              <a:t>QUAN TRỌNG khi trình bày: dừng lại ở mô tả. Bộ dữ liệu này không có biến chính</a:t>
            </a:r>
          </a:p>
          <a:p>
            <a:r>
              <a:t>sách, giá thành hay cơ chế khuyến khích, nên mọi giải thích nguyên nhân — kể cả</a:t>
            </a:r>
          </a:p>
          <a:p>
            <a:r>
              <a:t>những giải thích nghe rất hợp lý về giá FIT — đều nằm ngoài phạm vi chứng minh</a:t>
            </a:r>
          </a:p>
          <a:p>
            <a:r>
              <a:t>được ở đây. Nếu bị hỏi, nói thẳng như vậy.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Phát hiện cuối, và là phát hiện làm cả bốn phát hiện trước có ý nghĩa.</a:t>
            </a:r>
          </a:p>
          <a:p/>
          <a:p>
            <a:r>
              <a:t>Ba chỉ số tập trung, đo trên cùng mười nước năm 2021, chuyển từ thước đo tổng</a:t>
            </a:r>
          </a:p>
          <a:p>
            <a:r>
              <a:t>sang thước đo hiện đại:</a:t>
            </a:r>
          </a:p>
          <a:p/>
          <a:p>
            <a:r>
              <a:t>  Tỷ trọng ba nước dẫn đầu   67,1023%  →  92,2537%</a:t>
            </a:r>
          </a:p>
          <a:p>
            <a:r>
              <a:t>  HHI                        0,207886  →  0,480404</a:t>
            </a:r>
          </a:p>
          <a:p>
            <a:r>
              <a:t>  Gini                       0,529218  →  0,771285</a:t>
            </a:r>
          </a:p>
          <a:p/>
          <a:p>
            <a:r>
              <a:t>Điểm mạnh của lập luận nằm ở chỗ ba chỉ số này đo BA THỨ KHÁC NHAU — tỷ trọng</a:t>
            </a:r>
          </a:p>
          <a:p>
            <a:r>
              <a:t>nhóm dẫn đầu, độ phân tán bình phương, và độ bất bình đẳng — mà cùng chỉ một</a:t>
            </a:r>
          </a:p>
          <a:p>
            <a:r>
              <a:t>hướng. Một chỉ số đơn lẻ có thể là đặc thù của công thức; ba chỉ số độc lập cùng</a:t>
            </a:r>
          </a:p>
          <a:p>
            <a:r>
              <a:t>kết luận thì khó bác hơn nhiều.</a:t>
            </a:r>
          </a:p>
          <a:p/>
          <a:p>
            <a:r>
              <a:t>HHI vượt 0,48. Trong phân tích cạnh tranh, mức này được coi là tập trung rất cao.</a:t>
            </a:r>
          </a:p>
          <a:p/>
          <a:p>
            <a:r>
              <a:t>Hệ quả trực tiếp, và cũng là lý do phương pháp của cả bài: một con số trung bình</a:t>
            </a:r>
          </a:p>
          <a:p>
            <a:r>
              <a:t>cho ASEAN sẽ che mất bức tranh thật. Vì vậy mọi biểu đồ ở phần trước đều tách</a:t>
            </a:r>
          </a:p>
          <a:p>
            <a:r>
              <a:t>theo nước thay vì gộp khu vực, và dashboard giữ mẫu số khu vực cố định khi người</a:t>
            </a:r>
          </a:p>
          <a:p>
            <a:r>
              <a:t>xem lọc theo một nước.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Nếu trình bày trực tiếp, tốt nhất là MỞ dashboard thật thay vì chiếu ảnh, và bấm</a:t>
            </a:r>
          </a:p>
          <a:p>
            <a:r>
              <a:t>hai thao tác: đổi năm báo cáo, rồi bật công tắc "chỉ NLTT hiện đại".</a:t>
            </a:r>
          </a:p>
          <a:p/>
          <a:p>
            <a:r>
              <a:t>Thao tác thứ hai chính là phát hiện 3 hiện ra trước mắt người xem — thứ hạng đảo</a:t>
            </a:r>
          </a:p>
          <a:p>
            <a:r>
              <a:t>lại ngay khi đổi thước đo. Đó là lý do công tắc nằm trên hàng bộ lọc chứ không</a:t>
            </a:r>
          </a:p>
          <a:p>
            <a:r>
              <a:t>giấu trong trang phụ.</a:t>
            </a:r>
          </a:p>
          <a:p/>
          <a:p>
            <a:r>
              <a:t>Ba trang: tổng quan khu vực, Việt Nam chuyên sâu, so sánh và chẩn đoán.</a:t>
            </a:r>
          </a:p>
          <a:p/>
          <a:p>
            <a:r>
              <a:t>Về mặt kỹ thuật, nếu bị hỏi: mô hình sao 8 bảng, 3 quan hệ, 73 phép đo DAX sinh</a:t>
            </a:r>
          </a:p>
          <a:p>
            <a:r>
              <a:t>từ MỘT nguồn duy nhất rồi xuất song song ra mô hình và ra danh mục. 175 truy vấn</a:t>
            </a:r>
          </a:p>
          <a:p>
            <a:r>
              <a:t>nghiệm thu chạy trên chính mô hình đó, tất cả đạt.</a:t>
            </a:r>
          </a:p>
          <a:p/>
          <a:p>
            <a:r>
              <a:t>Trung thực nếu bị hỏi kỹ: lớp định lượng đã được kiểm đầy đủ; lớp tương tác và</a:t>
            </a:r>
          </a:p>
          <a:p>
            <a:r>
              <a:t>trình bày thì chưa nghiệm thu hết — bộ lọc chưa đồng bộ giữa ba trang và giao</a:t>
            </a:r>
          </a:p>
          <a:p>
            <a:r>
              <a:t>diện còn tiếng Anh.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Năm kết luận, đọc theo mạch thu hẹp dần.</a:t>
            </a:r>
          </a:p>
          <a:p/>
          <a:p>
            <a:r>
              <a:t>1. ASEAN đi từ 72,801 lên 289,656 TWh — gấp 3,98 lần. Nhưng thế giới cũng tăng,</a:t>
            </a:r>
          </a:p>
          <a:p>
            <a:r>
              <a:t>   nên tỷ trọng khu vực chỉ nhích từ 2,5504% lên 3,6735%, thêm 1,12 điểm phần</a:t>
            </a:r>
          </a:p>
          <a:p>
            <a:r>
              <a:t>   trăm sau 21 năm. Khu vực chạy nhanh, nhưng chạy trong một đoàn đang cùng tăng tốc.</a:t>
            </a:r>
          </a:p>
          <a:p/>
          <a:p>
            <a:r>
              <a:t>2. Thuỷ điện 185,58 TWh, chiếm 64,07%. Gió cộng mặt trời mới 42,73 TWh, tức</a:t>
            </a:r>
          </a:p>
          <a:p>
            <a:r>
              <a:t>   14,75%. Câu chuyện "bùng nổ điện mặt trời Đông Nam Á" đúng về tốc độ nhưng</a:t>
            </a:r>
          </a:p>
          <a:p>
            <a:r>
              <a:t>   chưa đúng về quy mô.</a:t>
            </a:r>
          </a:p>
          <a:p/>
          <a:p>
            <a:r>
              <a:t>3. Top-3 giữ 92,2537% lượng gió và mặt trời, so với 67,1023% khi đo bằng tổng</a:t>
            </a:r>
          </a:p>
          <a:p>
            <a:r>
              <a:t>   NLTT. HHI 0,4804 và Gini 0,7713 — ba chỉ số độc lập cùng chỉ một hướng.</a:t>
            </a:r>
          </a:p>
          <a:p/>
          <a:p>
            <a:r>
              <a:t>4. Việt Nam nắm 65,9022% sản lượng gió và mặt trời của khối, và đóng góp</a:t>
            </a:r>
          </a:p>
          <a:p>
            <a:r>
              <a:t>   65,9859% toàn bộ mức tăng dương 2010–2021.</a:t>
            </a:r>
          </a:p>
          <a:p/>
          <a:p>
            <a:r>
              <a:t>5. Cùng một năm, cùng mười nước, chỉ đổi thước đo: Singapore +4 bậc, Lào −5.</a:t>
            </a:r>
          </a:p>
          <a:p/>
          <a:p>
            <a:r>
              <a:t>NẾU BỊ HỎI "vì sao Việt Nam vượt lên": bộ dữ liệu này không có biến chính sách,</a:t>
            </a:r>
          </a:p>
          <a:p>
            <a:r>
              <a:t>giá thành hay cơ chế khuyến khích. Nói thẳng là không trả lời được từ dữ liệu</a:t>
            </a:r>
          </a:p>
          <a:p>
            <a:r>
              <a:t>hiện có, và đó là lý do slide sau chỉ đưa hướng chứ không đưa phương 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Tám hướng, bốn cho Việt Nam bốn cho khu vực. Nhấn mạnh ngay từ đầu: đây là hướng</a:t>
            </a:r>
          </a:p>
          <a:p>
            <a:r>
              <a:t>cần cân nhắc, không phải phương án đã tính chi phí.</a:t>
            </a:r>
          </a:p>
          <a:p/>
          <a:p>
            <a:r>
              <a:t>CHO VIỆT NAM</a:t>
            </a:r>
          </a:p>
          <a:p>
            <a:r>
              <a:t>1. Việt Nam nắm 65,9022% gió và mặt trời của ASEAN nhưng chỉ 35,9800% tổng NLTT</a:t>
            </a:r>
          </a:p>
          <a:p>
            <a:r>
              <a:t>   — tập trung vào một nhóm công nghệ không điều độ được. Đáng đánh giá rủi ro</a:t>
            </a:r>
          </a:p>
          <a:p>
            <a:r>
              <a:t>   vận hành hệ thống, cân nhắc lưu trữ và điều độ song song với công suất mới.</a:t>
            </a:r>
          </a:p>
          <a:p>
            <a:r>
              <a:t>2. Con số đáng chú ý nhất của slide này: tỷ trọng NLTT trong tổng điện năng</a:t>
            </a:r>
          </a:p>
          <a:p>
            <a:r>
              <a:t>   GIẢM từ 54,7816% xuống</a:t>
            </a:r>
          </a:p>
          <a:p>
            <a:r>
              <a:t>   42,5787% — mất 12,20 điểm phần trăm — trong</a:t>
            </a:r>
          </a:p>
          <a:p>
            <a:r>
              <a:t>   khi sản lượng tuyệt đối TĂNG 7,16 lần.</a:t>
            </a:r>
          </a:p>
          <a:p>
            <a:r>
              <a:t>   Hai điều này cùng đúng vì tổng cầu điện tăng còn nhanh hơn.</a:t>
            </a:r>
          </a:p>
          <a:p>
            <a:r>
              <a:t>3. Có 2 năm (2003 và 2014) sản lượng và tỷ trọng đi ngược chiều nhau.</a:t>
            </a:r>
          </a:p>
          <a:p>
            <a:r>
              <a:t>4. Hạng 16 thế giới về tổng NLTT nhưng hạng</a:t>
            </a:r>
          </a:p>
          <a:p>
            <a:r>
              <a:t>   17 về gió và mặt trời — nhóm nguồn hiện</a:t>
            </a:r>
          </a:p>
          <a:p>
            <a:r>
              <a:t>   đại chưa tạo được lợi thế xếp hạng tương xứng với quy mô. Nên so chuẩn với các</a:t>
            </a:r>
          </a:p>
          <a:p>
            <a:r>
              <a:t>   nước cùng hạng toàn cầu, không chỉ so trong ASEAN.</a:t>
            </a:r>
          </a:p>
          <a:p/>
          <a:p>
            <a:r>
              <a:t>CHO KHU VỰC</a:t>
            </a:r>
          </a:p>
          <a:p>
            <a:r>
              <a:t>5. 6/10 nước — Brunei, Campuchia, Lào, Malaysia, Myanmar, Singapore — không sản</a:t>
            </a:r>
          </a:p>
          <a:p>
            <a:r>
              <a:t>   xuất một kWh điện gió nào năm 2021.</a:t>
            </a:r>
          </a:p>
          <a:p>
            <a:r>
              <a:t>6. HHI nhóm hiện đại 0,4804, mức được coi là tập trung</a:t>
            </a:r>
          </a:p>
          <a:p>
            <a:r>
              <a:t>   rất cao; cả khu vực nhạy cảm với biến động ở một nước.</a:t>
            </a:r>
          </a:p>
          <a:p>
            <a:r>
              <a:t>7. Tỷ trọng ASEAN trong thế giới chỉ tăng 1,12 điểm phần trăm sau 21 năm, dù nội</a:t>
            </a:r>
          </a:p>
          <a:p>
            <a:r>
              <a:t>   khối tăng gần bốn lần. Đặt mục tiêu theo tỷ trọng toàn cầu sẽ phản ánh đúng vị</a:t>
            </a:r>
          </a:p>
          <a:p>
            <a:r>
              <a:t>   thế hơn là chỉ đo tăng trưởng nội khối.</a:t>
            </a:r>
          </a:p>
          <a:p>
            <a:r>
              <a:t>8. Thuỷ điện chiếm 64,07% và phụ thuộc địa hình, không nhân rộng đều được.</a:t>
            </a:r>
          </a:p>
          <a:p/>
          <a:p>
            <a:r>
              <a:t>NẾU BỊ HỎI "nên đầu tư công nghệ nào": không trả lời được. Không có LCOE, không</a:t>
            </a:r>
          </a:p>
          <a:p>
            <a:r>
              <a:t>có suất đầu tư. Đó là slide tiếp theo.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này nói rõ đâu là ranh giới, và đó là điểm mạnh chứ không phải điểm yếu.</a:t>
            </a:r>
          </a:p>
          <a:p/>
          <a:p>
            <a:r>
              <a:t>Cột trái — bốn điều dữ liệu đã cho thấy, tóm lại từ năm kết luận.</a:t>
            </a:r>
          </a:p>
          <a:p/>
          <a:p>
            <a:r>
              <a:t>Cột phải — bốn bảng cần ghép thêm, mỗi bảng gắn với một câu hỏi cụ thể hiện chưa</a:t>
            </a:r>
          </a:p>
          <a:p>
            <a:r>
              <a:t>trả lời được:</a:t>
            </a:r>
          </a:p>
          <a:p>
            <a:r>
              <a:t>  giá thành và suất đầu tư  → ưu tiên công nghệ nào cho mỗi đồng vốn</a:t>
            </a:r>
          </a:p>
          <a:p>
            <a:r>
              <a:t>  mốc chính sách từng nước  → chính sách đi trước hay đi sau tăng trưởng</a:t>
            </a:r>
          </a:p>
          <a:p>
            <a:r>
              <a:t>  công suất đầy đủ 10 nước  → hệ số công suất toàn khu vực, không chỉ 104 cặp</a:t>
            </a:r>
          </a:p>
          <a:p>
            <a:r>
              <a:t>  dân số và tổng điện năng  → chuẩn hoá theo quy mô, so Singapore với Indonesia</a:t>
            </a:r>
          </a:p>
          <a:p/>
          <a:p>
            <a:r>
              <a:t>Câu chốt: một báo cáo biết mình chưa trả lời được gì thì đáng tin hơn một báo cáo</a:t>
            </a:r>
          </a:p>
          <a:p>
            <a:r>
              <a:t>trả lời tất cả.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Kết thúc ở đây. Ba điểm để nhắc lại nếu còn thời gian, hoặc để dùng khi trả lời:</a:t>
            </a:r>
          </a:p>
          <a:p/>
          <a:p>
            <a:r>
              <a:t>- Toàn bộ số liệu tái lập được bằng một lệnh; chạy lại cho kết quả trùng khớp.</a:t>
            </a:r>
          </a:p>
          <a:p>
            <a:r>
              <a:t>- Mỗi con số trong báo cáo truy được về một bảng nguồn cụ thể, không con số nào</a:t>
            </a:r>
          </a:p>
          <a:p>
            <a:r>
              <a:t>  chép lại từ ghi chép trung gian.</a:t>
            </a:r>
          </a:p>
          <a:p>
            <a:r>
              <a:t>- Giới hạn của dữ liệu được ghi rõ ngay từ slide thứ tư, và mọi đề xuất đều nằm</a:t>
            </a:r>
          </a:p>
          <a:p>
            <a:r>
              <a:t>  trong giới hạn đó.</a:t>
            </a:r>
          </a:p>
          <a:p/>
          <a:p>
            <a:r>
              <a:t>Ba câu hỏi hay gặp và cách trả lời ngắn:</a:t>
            </a:r>
          </a:p>
          <a:p/>
          <a:p>
            <a:r>
              <a:t>"Vì sao không dự báo tương lai?" — dữ liệu dừng ở 2021 và không có biến chính</a:t>
            </a:r>
          </a:p>
          <a:p>
            <a:r>
              <a:t>sách; dự báo từ đây sẽ là ngoại suy thuần tuý.</a:t>
            </a:r>
          </a:p>
          <a:p/>
          <a:p>
            <a:r>
              <a:t>"Vì sao chỉ ASEAN-10?" — phạm vi được chọn từ đầu, và độ phủ dữ liệu của mười</a:t>
            </a:r>
          </a:p>
          <a:p>
            <a:r>
              <a:t>nước này đủ 1.760/1.760 ô trong cửa sổ phân tích chính.</a:t>
            </a:r>
          </a:p>
          <a:p/>
          <a:p>
            <a:r>
              <a:t>"Số liệu có mới không?" — nguồn cập nhật tới 2022 nhưng năm 2022 bị cắt cụt ở 8</a:t>
            </a:r>
          </a:p>
          <a:p>
            <a:r>
              <a:t>tệp và không có nước ASEAN nào, nên đã bị loại có chủ 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051560"/>
            <a:ext cx="11057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55E00"/>
                </a:solidFill>
                <a:latin typeface="Segoe UI"/>
              </a:rPr>
              <a:t>ĐỒ ÁN PHÂN TÍCH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63040"/>
            <a:ext cx="110578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74151"/>
                </a:solidFill>
                <a:latin typeface="Segoe UI"/>
              </a:rPr>
              <a:t>Đông Nam Á chuyển dịch sang năng lượng tái tạo</a:t>
            </a:r>
          </a:p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74151"/>
                </a:solidFill>
                <a:latin typeface="Segoe UI"/>
              </a:rPr>
              <a:t>đến đâu, và Việt Nam đứng ở đâu trong đó?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200400"/>
            <a:ext cx="2926080" cy="3810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611880"/>
            <a:ext cx="6766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374151"/>
                </a:solidFill>
                <a:latin typeface="Segoe UI"/>
              </a:rPr>
              <a:t>Năm 2021, một nước duy nhất chiếm 65,90% toàn bộ sản lượng</a:t>
            </a:r>
          </a:p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374151"/>
                </a:solidFill>
                <a:latin typeface="Segoe UI"/>
              </a:rPr>
              <a:t>gió và mặt trời của cả mười nước ASEAN.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89204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D55E00"/>
                </a:solidFill>
                <a:latin typeface="Segoe UI"/>
              </a:rPr>
              <a:t>Nước đó là Việt Nam.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61188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1" i="0">
                <a:solidFill>
                  <a:srgbClr val="D55E00"/>
                </a:solidFill>
                <a:latin typeface="Segoe UI"/>
              </a:rPr>
              <a:t>65,90%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70916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tỷ trọng của Việt Nam trong</a:t>
            </a:r>
          </a:p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gió + mặt trời của ASEAN-10, 2021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00800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Nguồn: Our World in Data (Ember · BP) · ASEAN-10 · 2000–2021 · đã loại năm 2022 bị cắt cụt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5E00"/>
                </a:solidFill>
                <a:latin typeface="Segoe UI"/>
              </a:rPr>
              <a:t>NỘI DUNG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374151"/>
                </a:solidFill>
                <a:latin typeface="Segoe UI"/>
              </a:rPr>
              <a:t>Mạch trình bày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1057839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920240"/>
            <a:ext cx="525459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374151"/>
                </a:solidFill>
                <a:latin typeface="Segoe UI"/>
              </a:rPr>
              <a:t>•   Vấn đề, câu hỏi và người dùng kết quả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374151"/>
                </a:solidFill>
                <a:latin typeface="Segoe UI"/>
              </a:rPr>
              <a:t>•   Dữ liệu, phạm vi và giới hạn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374151"/>
                </a:solidFill>
                <a:latin typeface="Segoe UI"/>
              </a:rPr>
              <a:t>•   Khuyết điểm dữ liệu tìm thấy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374151"/>
                </a:solidFill>
                <a:latin typeface="Segoe UI"/>
              </a:rPr>
              <a:t>•   Làm sạch và chứng minh làm sạch đúng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374151"/>
                </a:solidFill>
                <a:latin typeface="Segoe UI"/>
              </a:rPr>
              <a:t>•   Thống kê mô tả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920240"/>
            <a:ext cx="525459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374151"/>
                </a:solidFill>
                <a:latin typeface="Segoe UI"/>
              </a:rPr>
              <a:t>•   Năm phát hiện chính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374151"/>
                </a:solidFill>
                <a:latin typeface="Segoe UI"/>
              </a:rPr>
              <a:t>•   Dashboard tương tác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374151"/>
                </a:solidFill>
                <a:latin typeface="Segoe UI"/>
              </a:rPr>
              <a:t>•   Kết luận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374151"/>
                </a:solidFill>
                <a:latin typeface="Segoe UI"/>
              </a:rPr>
              <a:t>•   Đề xuất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374151"/>
                </a:solidFill>
                <a:latin typeface="Segoe UI"/>
              </a:rPr>
              <a:t>•   Giới hạn và dữ liệu cần bổ sung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Nguồn: Our World in Data (Ember · BP) · ASEAN-10 · 2000–2021 · đã loại năm 2022 bị cắt cụt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5E00"/>
                </a:solidFill>
                <a:latin typeface="Segoe UI"/>
              </a:rPr>
              <a:t>CÂU HỎI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374151"/>
                </a:solidFill>
                <a:latin typeface="Segoe UI"/>
              </a:rPr>
              <a:t>Một câu hỏi trung tâm, sáu câu hỏi con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1057839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110578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374151"/>
                </a:solidFill>
                <a:latin typeface="Segoe UI"/>
              </a:rPr>
              <a:t>•   Q1 — ASEAN so với thế giới: quy mô và tỷ trọng?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374151"/>
                </a:solidFill>
                <a:latin typeface="Segoe UI"/>
              </a:rPr>
              <a:t>•   Q2 — Cơ cấu dịch chuyển ra sao giữa các công nghệ?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374151"/>
                </a:solidFill>
                <a:latin typeface="Segoe UI"/>
              </a:rPr>
              <a:t>•   Q3 — Đổi cách đo thì thứ hạng đổi thế nào?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374151"/>
                </a:solidFill>
                <a:latin typeface="Segoe UI"/>
              </a:rPr>
              <a:t>•   Q4 — Việt Nam đứng ở đâu, khu vực và thế giới?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374151"/>
                </a:solidFill>
                <a:latin typeface="Segoe UI"/>
              </a:rPr>
              <a:t>•   Q5 — Sản lượng và tỷ trọng có đi cùng chiều?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374151"/>
                </a:solidFill>
                <a:latin typeface="Segoe UI"/>
              </a:rPr>
              <a:t>•   Q6 — Đà tăng tập trung vào bao nhiêu nước?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074920"/>
            <a:ext cx="11057839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257800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5E00"/>
                </a:solidFill>
                <a:latin typeface="Segoe UI"/>
              </a:rPr>
              <a:t>KẾT QUẢ NÀY DÙNG CHO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623560"/>
            <a:ext cx="344210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74151"/>
                </a:solidFill>
                <a:latin typeface="Segoe UI"/>
              </a:rPr>
              <a:t>Nhà hoạch định năng lượng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97880"/>
            <a:ext cx="344210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so sánh vị thế khu vực và đặt mục tiêu theo tỷ trọng, không chỉ theo sản lượng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4794" y="5623560"/>
            <a:ext cx="344210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74151"/>
                </a:solidFill>
                <a:latin typeface="Segoe UI"/>
              </a:rPr>
              <a:t>Nhà phân tích và nghiên cứu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4794" y="5897880"/>
            <a:ext cx="344210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có sẵn bộ dữ liệu đã làm sạch, kiểm định và truy vết được tới từng con số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2660" y="5623560"/>
            <a:ext cx="344210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74151"/>
                </a:solidFill>
                <a:latin typeface="Segoe UI"/>
              </a:rPr>
              <a:t>Người đọc báo cáo năng lượng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2660" y="5897880"/>
            <a:ext cx="344210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biết một bảng xếp hạng nói gì, và nó im lặng về điều gì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00800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Nguồn: Our World in Data (Ember · BP) · ASEAN-10 · 2000–2021 · đã loại năm 2022 bị cắt cụt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5E00"/>
                </a:solidFill>
                <a:latin typeface="Segoe UI"/>
              </a:rPr>
              <a:t>GIỚI HẠN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374151"/>
                </a:solidFill>
                <a:latin typeface="Segoe UI"/>
              </a:rPr>
              <a:t>Bộ dữ liệu này không trả lời được những gì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1057839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57400"/>
            <a:ext cx="4572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Segoe UI"/>
              </a:rPr>
              <a:t>•   Giá thành sản xuất và suất đầu tư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Segoe UI"/>
              </a:rPr>
              <a:t>•   Chính sách, cơ chế giá và trợ cấp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Segoe UI"/>
              </a:rPr>
              <a:t>•   Dân số, GDP, cường độ tiêu thụ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Segoe UI"/>
              </a:rPr>
              <a:t>•   Phát thải và hệ số phát thải lưới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Segoe UI"/>
              </a:rPr>
              <a:t>•   Gió trên bờ và ngoài khơi (chỉ có tổng)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Segoe UI"/>
              </a:rPr>
              <a:t>•   Công suất đầy đủ cho mọi nước, mọi công nghệ</a:t>
            </a:r>
          </a:p>
        </p:txBody>
      </p:sp>
      <p:pic>
        <p:nvPicPr>
          <p:cNvPr id="6" name="Picture 5" descr="04_13_capacity_factor_prox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011680"/>
            <a:ext cx="6339840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32120" y="566928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Ví dụ: hệ số công suất chỉ tính được ở 104 cặp nước–năm.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3492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D55E00"/>
                </a:solidFill>
                <a:latin typeface="Segoe UI"/>
              </a:rPr>
              <a:t>Hệ quả: báo cáo mô tả điều đã xảy ra và mức độ,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D55E00"/>
                </a:solidFill>
                <a:latin typeface="Segoe UI"/>
              </a:rPr>
              <a:t>nhưng không giải thích nguyên nhân.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00800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Nguồn: Our World in Data (Ember · BP) · ASEAN-10 · 2000–2021 · đã loại năm 2022 bị cắt cụt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5E00"/>
                </a:solidFill>
                <a:latin typeface="Segoe UI"/>
              </a:rPr>
              <a:t>CHẤT LƯỢNG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374151"/>
                </a:solidFill>
                <a:latin typeface="Segoe UI"/>
              </a:rPr>
              <a:t>Bốn khuyết điểm — không cái nào tự báo lỗi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1057839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25587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D55E00"/>
                </a:solidFill>
                <a:latin typeface="Segoe UI"/>
              </a:rPr>
              <a:t>3,125%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42032"/>
            <a:ext cx="2558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thực thể còn lại nếu ghép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INNER JOIN cả 17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9967" y="1828800"/>
            <a:ext cx="25587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D55E00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9967" y="2542032"/>
            <a:ext cx="2558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file là bản trùng dư thừa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của một file khác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6" y="1828800"/>
            <a:ext cx="25587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D55E00"/>
                </a:solidFill>
                <a:latin typeface="Segoe U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006" y="2542032"/>
            <a:ext cx="2558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file bị cắt cụt nặng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ở năm 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66045" y="1828800"/>
            <a:ext cx="25587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D55E00"/>
                </a:solidFill>
                <a:latin typeface="Segoe UI"/>
              </a:rPr>
              <a:t>106 → 247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66045" y="2542032"/>
            <a:ext cx="2558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thực thể nhảy vọt tại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năm 2000 do đổi nguồn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114800"/>
            <a:ext cx="110578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374151"/>
                </a:solidFill>
                <a:latin typeface="Segoe UI"/>
              </a:rPr>
              <a:t>•   Ghép sai kiểu → mất 97% thực thể, im lặng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374151"/>
                </a:solidFill>
                <a:latin typeface="Segoe UI"/>
              </a:rPr>
              <a:t>•   Dùng file trùng → đếm hai lần cùng một lượng điện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374151"/>
                </a:solidFill>
                <a:latin typeface="Segoe UI"/>
              </a:rPr>
              <a:t>•   Giữ năm 2022 → cú sụt giả ở cuối mọi chuỗi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374151"/>
                </a:solidFill>
                <a:latin typeface="Segoe UI"/>
              </a:rPr>
              <a:t>•   Mẫu số động → cú sụt giả thứ hai, tại năm 2000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00800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Nguồn: Our World in Data (Ember · BP) · ASEAN-10 · 2000–2021 · đã loại năm 2022 bị cắt cụt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5E00"/>
                </a:solidFill>
                <a:latin typeface="Segoe UI"/>
              </a:rPr>
              <a:t>KIỂM ĐỊNH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374151"/>
                </a:solidFill>
                <a:latin typeface="Segoe UI"/>
              </a:rPr>
              <a:t>Làm sạch là một chuyện, chứng minh đã làm đúng là chuyện khác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1057839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25587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072B2"/>
                </a:solidFill>
                <a:latin typeface="Segoe UI"/>
              </a:rPr>
              <a:t>89.075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42032"/>
            <a:ext cx="2558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dòng dữ kiện sau khi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chuẩn hoá về dạng dài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9967" y="1828800"/>
            <a:ext cx="25587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072B2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9967" y="2542032"/>
            <a:ext cx="2558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kiểm định đối chiếu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V1–V8 viết bằng 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6" y="1828800"/>
            <a:ext cx="25587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072B2"/>
                </a:solidFill>
                <a:latin typeface="Segoe UI"/>
              </a:rPr>
              <a:t>864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006" y="2542032"/>
            <a:ext cx="2558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kết quả kiểm định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Phase 2 được ghi lại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66045" y="1828800"/>
            <a:ext cx="25587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09E73"/>
                </a:solidFill>
                <a:latin typeface="Segoe U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66045" y="2542032"/>
            <a:ext cx="2558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dòng chặn không đạt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trên toàn bộ quy trình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114800"/>
            <a:ext cx="110578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374151"/>
                </a:solidFill>
                <a:latin typeface="Segoe UI"/>
              </a:rPr>
              <a:t>•   Tổng các nước phải khớp dòng “World” từng năm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374151"/>
                </a:solidFill>
                <a:latin typeface="Segoe UI"/>
              </a:rPr>
              <a:t>•   Giá trị 0 giữ nguyên — là kết quả, không phải lỗi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374151"/>
                </a:solidFill>
                <a:latin typeface="Segoe UI"/>
              </a:rPr>
              <a:t>•   Chênh lệch thật giữa hai nguồn: giữ và giải thích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374151"/>
                </a:solidFill>
                <a:latin typeface="Segoe UI"/>
              </a:rPr>
              <a:t>•   Chạy lại cho kết quả trùng khớp từng byte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00800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Nguồn: Our World in Data (Ember · BP) · ASEAN-10 · 2000–2021 · đã loại năm 2022 bị cắt cụt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5E00"/>
                </a:solidFill>
                <a:latin typeface="Segoe UI"/>
              </a:rPr>
              <a:t>THỐNG KÊ MÔ TẢ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374151"/>
                </a:solidFill>
                <a:latin typeface="Segoe UI"/>
              </a:rPr>
              <a:t>Trung bình nói sai câu chuyện khi phân phối lệch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1057839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50346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Segoe UI"/>
              </a:rPr>
              <a:t>Tập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0394" y="1783080"/>
            <a:ext cx="4783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Segoe UI"/>
              </a:rPr>
              <a:t>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8769" y="1783080"/>
            <a:ext cx="88841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Segoe UI"/>
              </a:rPr>
              <a:t>Trung bình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7181" y="1783080"/>
            <a:ext cx="820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Segoe UI"/>
              </a:rPr>
              <a:t>Trung vị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7253" y="1783080"/>
            <a:ext cx="102509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Segoe UI"/>
              </a:rPr>
              <a:t>Độ lệch chuẩn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2344" y="1783080"/>
            <a:ext cx="102509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Segoe UI"/>
              </a:rPr>
              <a:t>Hệ số biến thiên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7434" y="1783080"/>
            <a:ext cx="7517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Segoe UI"/>
              </a:rPr>
              <a:t>Độ lệch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112264"/>
            <a:ext cx="64922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221992"/>
            <a:ext cx="150346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74151"/>
                </a:solidFill>
                <a:latin typeface="Segoe UI"/>
              </a:rPr>
              <a:t>Toàn bộ quan sát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0394" y="2221992"/>
            <a:ext cx="4783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74151"/>
                </a:solidFill>
                <a:latin typeface="Segoe U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8769" y="2221992"/>
            <a:ext cx="88841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74151"/>
                </a:solidFill>
                <a:latin typeface="Segoe UI"/>
              </a:rPr>
              <a:t>3,443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7181" y="2221992"/>
            <a:ext cx="820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74151"/>
                </a:solidFill>
                <a:latin typeface="Segoe UI"/>
              </a:rPr>
              <a:t>0,520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7253" y="2221992"/>
            <a:ext cx="102509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74151"/>
                </a:solidFill>
                <a:latin typeface="Segoe UI"/>
              </a:rPr>
              <a:t>7,544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2344" y="2221992"/>
            <a:ext cx="102509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74151"/>
                </a:solidFill>
                <a:latin typeface="Segoe UI"/>
              </a:rPr>
              <a:t>2,191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7434" y="2221992"/>
            <a:ext cx="7517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74151"/>
                </a:solidFill>
                <a:latin typeface="Segoe UI"/>
              </a:rPr>
              <a:t>3,015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69464"/>
            <a:ext cx="6492240" cy="9525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606040"/>
            <a:ext cx="150346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74151"/>
                </a:solidFill>
                <a:latin typeface="Segoe UI"/>
              </a:rPr>
              <a:t>Chỉ nước &gt;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70394" y="2606040"/>
            <a:ext cx="4783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74151"/>
                </a:solidFill>
                <a:latin typeface="Segoe UI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8769" y="2606040"/>
            <a:ext cx="88841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74151"/>
                </a:solidFill>
                <a:latin typeface="Segoe UI"/>
              </a:rPr>
              <a:t>3,826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7181" y="2606040"/>
            <a:ext cx="820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74151"/>
                </a:solidFill>
                <a:latin typeface="Segoe UI"/>
              </a:rPr>
              <a:t>0,670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7253" y="2606040"/>
            <a:ext cx="102509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74151"/>
                </a:solidFill>
                <a:latin typeface="Segoe UI"/>
              </a:rPr>
              <a:t>7,859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2344" y="2606040"/>
            <a:ext cx="102509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74151"/>
                </a:solidFill>
                <a:latin typeface="Segoe UI"/>
              </a:rPr>
              <a:t>2,054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7434" y="2606040"/>
            <a:ext cx="7517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74151"/>
                </a:solidFill>
                <a:latin typeface="Segoe UI"/>
              </a:rPr>
              <a:t>2,862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953512"/>
            <a:ext cx="6492240" cy="9525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2990088"/>
            <a:ext cx="150346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74151"/>
                </a:solidFill>
                <a:latin typeface="Segoe UI"/>
              </a:rPr>
              <a:t>Chỉ mức đáng kể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70394" y="2990088"/>
            <a:ext cx="4783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74151"/>
                </a:solidFill>
                <a:latin typeface="Segoe U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48769" y="2990088"/>
            <a:ext cx="88841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74151"/>
                </a:solidFill>
                <a:latin typeface="Segoe UI"/>
              </a:rPr>
              <a:t>4,299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7181" y="2990088"/>
            <a:ext cx="820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74151"/>
                </a:solidFill>
                <a:latin typeface="Segoe UI"/>
              </a:rPr>
              <a:t>1,085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7253" y="2990088"/>
            <a:ext cx="102509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74151"/>
                </a:solidFill>
                <a:latin typeface="Segoe UI"/>
              </a:rPr>
              <a:t>8,214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82344" y="2990088"/>
            <a:ext cx="102509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74151"/>
                </a:solidFill>
                <a:latin typeface="Segoe UI"/>
              </a:rPr>
              <a:t>1,911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7434" y="2990088"/>
            <a:ext cx="7517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74151"/>
                </a:solidFill>
                <a:latin typeface="Segoe UI"/>
              </a:rPr>
              <a:t>2,701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703320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374151"/>
                </a:solidFill>
                <a:latin typeface="Segoe UI"/>
              </a:rPr>
              <a:t>Phân vị sản lượng mặt trời ASEAN-10 năm 2021 (TWh):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374151"/>
                </a:solidFill>
                <a:latin typeface="Segoe UI"/>
              </a:rPr>
              <a:t>P25 = 0,1225   ·   P50 = 0,520   ·   P75 = 1,500   ·   P90 = 6,438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663440"/>
            <a:ext cx="6492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6B7280"/>
                </a:solidFill>
                <a:latin typeface="Segoe UI"/>
              </a:rPr>
              <a:t>Trung bình cao gấp hơn sáu lần trung vị, độ lệch vượt 3 và hệ số biến thiên vượt 2.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6B7280"/>
                </a:solidFill>
                <a:latin typeface="Segoe UI"/>
              </a:rPr>
              <a:t>Bỏ các nước bằng 0 rồi bỏ tiếp mức không đáng kể vẫn không làm phân phối cân lại.</a:t>
            </a:r>
          </a:p>
        </p:txBody>
      </p:sp>
      <p:pic>
        <p:nvPicPr>
          <p:cNvPr id="38" name="Picture 37" descr="04_10_global_distribution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5527040" cy="31089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66928" y="6080760"/>
            <a:ext cx="11057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74151"/>
                </a:solidFill>
                <a:latin typeface="Segoe UI"/>
              </a:rPr>
              <a:t>Phân phối sản lượng giữa các nước lệch mạnh đến mức trung bình gấp hơn sáu lần trung vị, nên phân vị mới là thống kê đọc được.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400800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Mặt trời · ASEAN-10 · 2021 · độ lệch chuẩn tổng thể (ddof=0) · độ lệch hiệu chỉnh chệch. Nguồn: Our World in Data (Ember · BP) · ASEAN-10 · 2000–2021 · đã loại năm 2022 bị cắt cụt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5E00"/>
                </a:solidFill>
                <a:latin typeface="Segoe UI"/>
              </a:rPr>
              <a:t>PHÁT HIỆN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374151"/>
                </a:solidFill>
                <a:latin typeface="Segoe UI"/>
              </a:rPr>
              <a:t>Quy mô tăng gần bốn lần, vị thế gần như không đổi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1057839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53917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072B2"/>
                </a:solidFill>
                <a:latin typeface="Segoe UI"/>
              </a:rPr>
              <a:t>72,8 → 289,7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96312"/>
            <a:ext cx="53917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TWh — sản lượng NLTT của ASEAN-10,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2000 so với 2021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783080"/>
            <a:ext cx="53917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D55E00"/>
                </a:solidFill>
                <a:latin typeface="Segoe UI"/>
              </a:rPr>
              <a:t>2,55% → 3,67%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2496312"/>
            <a:ext cx="53917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tỷ trọng của ASEAN-10 trong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tổng sản lượng NLTT thế giới</a:t>
            </a:r>
          </a:p>
        </p:txBody>
      </p:sp>
      <p:pic>
        <p:nvPicPr>
          <p:cNvPr id="9" name="Picture 8" descr="04_01_global_asean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807" y="3310128"/>
            <a:ext cx="4958080" cy="2788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144768"/>
            <a:ext cx="11057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74151"/>
                </a:solidFill>
                <a:latin typeface="Segoe UI"/>
              </a:rPr>
              <a:t>ASEAN tăng gần bốn lần về quy mô năng lượng tái tạo, nhưng chỗ đứng của khu vực trên bản đồ thế giới gần như không đổi.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Nguồn: Our World in Data (Ember · BP) · ASEAN-10 · 2000–2021 · đã loại năm 2022 bị cắt cụt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5E00"/>
                </a:solidFill>
                <a:latin typeface="Segoe UI"/>
              </a:rPr>
              <a:t>PHÁT HIỆN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374151"/>
                </a:solidFill>
                <a:latin typeface="Segoe UI"/>
              </a:rPr>
              <a:t>Gió và mặt trời xuất phát từ đúng số không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1057839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53917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09E73"/>
                </a:solidFill>
                <a:latin typeface="Segoe UI"/>
              </a:rPr>
              <a:t>0 → 42,73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96312"/>
            <a:ext cx="53917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TWh — gió + mặt trời của ASEAN-10,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2000 so với 2021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783080"/>
            <a:ext cx="53917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072B2"/>
                </a:solidFill>
                <a:latin typeface="Segoe UI"/>
              </a:rPr>
              <a:t>64,07%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2496312"/>
            <a:ext cx="53917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phần của thuỷ điện trong sản lượng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tái tạo ASEAN-10 năm 2021</a:t>
            </a:r>
          </a:p>
        </p:txBody>
      </p:sp>
      <p:pic>
        <p:nvPicPr>
          <p:cNvPr id="9" name="Picture 8" descr="04_02_asean_technolog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807" y="3310128"/>
            <a:ext cx="4958080" cy="2788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144768"/>
            <a:ext cx="11057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74151"/>
                </a:solidFill>
                <a:latin typeface="Segoe UI"/>
              </a:rPr>
              <a:t>Dù gió và mặt trời tăng nhanh, thuỷ điện vẫn là nguồn lớn nhất của ASEAN năm 2021.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Tăng trưởng 2000–2021 của gió + mặt trời KHÔNG tính được: mẫu số bằng 0. Nguồn: Our World in Data (Ember · BP) · ASEAN-10 · 2000–2021 · đã loại năm 2022 bị cắt cụt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5E00"/>
                </a:solidFill>
                <a:latin typeface="Segoe UI"/>
              </a:rPr>
              <a:t>PHÁT HIỆN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374151"/>
                </a:solidFill>
                <a:latin typeface="Segoe UI"/>
              </a:rPr>
              <a:t>Đổi cách đo là đổi luôn thứ hạng khu vực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1057839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350306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09E73"/>
                </a:solidFill>
                <a:latin typeface="Segoe UI"/>
              </a:rPr>
              <a:t>4 bậc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96312"/>
            <a:ext cx="350306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Singapore tăng khi chuyển sang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đo bằng gió + mặt trời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4314" y="1783080"/>
            <a:ext cx="350306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D55E00"/>
                </a:solidFill>
                <a:latin typeface="Segoe UI"/>
              </a:rPr>
              <a:t>-5 bậc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4314" y="2496312"/>
            <a:ext cx="350306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Lào giảm — thế mạnh của họ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là thuỷ điện, không phải gió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1700" y="1783080"/>
            <a:ext cx="350306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072B2"/>
                </a:solidFill>
                <a:latin typeface="Segoe UI"/>
              </a:rPr>
              <a:t>1 và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1700" y="2496312"/>
            <a:ext cx="350306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hạng của Việt Nam theo cả hai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cách đo — không đổi</a:t>
            </a:r>
          </a:p>
        </p:txBody>
      </p:sp>
      <p:pic>
        <p:nvPicPr>
          <p:cNvPr id="11" name="Picture 10" descr="04_04_asean_rank_shift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807" y="3310128"/>
            <a:ext cx="4958080" cy="2788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6144768"/>
            <a:ext cx="11057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74151"/>
                </a:solidFill>
                <a:latin typeface="Segoe UI"/>
              </a:rPr>
              <a:t>Đổi định nghĩa 'năng lượng tái tạo' là đổi luôn thứ hạng khu vực, nên mọi bảng xếp hạng phải nói rõ nó đang đo cái gì.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Nguồn: Our World in Data (Ember · BP) · ASEAN-10 · 2000–2021 · đã loại năm 2022 bị cắt cụt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5E00"/>
                </a:solidFill>
                <a:latin typeface="Segoe UI"/>
              </a:rPr>
              <a:t>PHÁT HIỆN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374151"/>
                </a:solidFill>
                <a:latin typeface="Segoe UI"/>
              </a:rPr>
              <a:t>Hai phần ba lượng gió và mặt trời của ASEAN nằm ở một nước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1057839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350306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D55E00"/>
                </a:solidFill>
                <a:latin typeface="Segoe UI"/>
              </a:rPr>
              <a:t>65,90%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96312"/>
            <a:ext cx="350306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phần của Việt Nam trong gió +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mặt trời của ASEAN-10, 2021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4314" y="1783080"/>
            <a:ext cx="350306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D55E00"/>
                </a:solidFill>
                <a:latin typeface="Segoe UI"/>
              </a:rPr>
              <a:t>65,99%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4314" y="2496312"/>
            <a:ext cx="350306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phần của Việt Nam trong toàn bộ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mức tăng 2010–2021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1700" y="1783080"/>
            <a:ext cx="350306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072B2"/>
                </a:solidFill>
                <a:latin typeface="Segoe U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1700" y="2496312"/>
            <a:ext cx="350306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hạng của Việt Nam trên thế giới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về gió + mặt trời</a:t>
            </a:r>
          </a:p>
        </p:txBody>
      </p:sp>
      <p:pic>
        <p:nvPicPr>
          <p:cNvPr id="11" name="Picture 10" descr="04_07_vietnam_technolog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807" y="3310128"/>
            <a:ext cx="4958080" cy="2788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6144768"/>
            <a:ext cx="11057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74151"/>
                </a:solidFill>
                <a:latin typeface="Segoe UI"/>
              </a:rPr>
              <a:t>Gần như toàn bộ mức tăng gió và mặt trời của ASEAN giai đoạn 2010–2021 đến từ một nước duy nhất.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Dữ liệu cho biết mức độ, không cho biết nguyên nhân. Nguồn: Our World in Data (Ember · BP) · ASEAN-10 · 2000–2021 · đã loại năm 2022 bị cắt cụt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5E00"/>
                </a:solidFill>
                <a:latin typeface="Segoe UI"/>
              </a:rPr>
              <a:t>PHÁT HIỆN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374151"/>
                </a:solidFill>
                <a:latin typeface="Segoe UI"/>
              </a:rPr>
              <a:t>Đà tăng tập trung vào rất ít nước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1057839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350306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D55E00"/>
                </a:solidFill>
                <a:latin typeface="Segoe UI"/>
              </a:rPr>
              <a:t>67,10% → 92,25%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96312"/>
            <a:ext cx="350306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tỷ trọng ba nước dẫn đầu, khi chuyển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từ tổng NLTT sang gió + mặt trời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4314" y="1783080"/>
            <a:ext cx="350306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072B2"/>
                </a:solidFill>
                <a:latin typeface="Segoe UI"/>
              </a:rPr>
              <a:t>0,208 → 0,480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4314" y="2496312"/>
            <a:ext cx="350306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chỉ số tập trung HHI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trên cùng hai thước đo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1700" y="1783080"/>
            <a:ext cx="350306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072B2"/>
                </a:solidFill>
                <a:latin typeface="Segoe UI"/>
              </a:rPr>
              <a:t>0,529 → 0,771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1700" y="2496312"/>
            <a:ext cx="350306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hệ số Gini — ba chỉ số độc lập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cùng chỉ một hướng</a:t>
            </a:r>
          </a:p>
        </p:txBody>
      </p:sp>
      <p:pic>
        <p:nvPicPr>
          <p:cNvPr id="11" name="Picture 10" descr="04_12_asean_concentration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807" y="3310128"/>
            <a:ext cx="4958080" cy="2788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6144768"/>
            <a:ext cx="11057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74151"/>
                </a:solidFill>
                <a:latin typeface="Segoe UI"/>
              </a:rPr>
              <a:t>Đà tăng của khu vực tập trung vào rất ít nước, nên một con số trung bình cho ASEAN sẽ che mất bức tranh thật.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Nguồn: Our World in Data (Ember · BP) · ASEAN-10 · 2000–2021 · đã loại năm 2022 bị cắt cụt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5E00"/>
                </a:solidFill>
                <a:latin typeface="Segoe UI"/>
              </a:rP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374151"/>
                </a:solidFill>
                <a:latin typeface="Segoe UI"/>
              </a:rPr>
              <a:t>Ba trang cho phép người xem tự khám phá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1057839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74520"/>
            <a:ext cx="5254599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75000"/>
              </a:lnSpc>
            </a:pPr>
            <a:r>
              <a:rPr sz="1700" b="0" i="0">
                <a:solidFill>
                  <a:srgbClr val="374151"/>
                </a:solidFill>
                <a:latin typeface="Segoe UI"/>
              </a:rPr>
              <a:t>•   Trang 1 — Tổng quan Đông Nam Á</a:t>
            </a:r>
          </a:p>
          <a:p>
            <a:pPr algn="l">
              <a:lnSpc>
                <a:spcPct val="175000"/>
              </a:lnSpc>
            </a:pPr>
            <a:r>
              <a:rPr sz="1700" b="0" i="0">
                <a:solidFill>
                  <a:srgbClr val="374151"/>
                </a:solidFill>
                <a:latin typeface="Segoe UI"/>
              </a:rPr>
              <a:t>•   Trang 2 — Việt Nam chuyên sâu</a:t>
            </a:r>
          </a:p>
          <a:p>
            <a:pPr algn="l">
              <a:lnSpc>
                <a:spcPct val="175000"/>
              </a:lnSpc>
            </a:pPr>
            <a:r>
              <a:rPr sz="1700" b="0" i="0">
                <a:solidFill>
                  <a:srgbClr val="374151"/>
                </a:solidFill>
                <a:latin typeface="Segoe UI"/>
              </a:rPr>
              <a:t>•   Trang 3 — So sánh và chẩn đoán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31920"/>
            <a:ext cx="525459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280"/>
                </a:solidFill>
                <a:latin typeface="Segoe UI"/>
              </a:rPr>
              <a:t>Công tắc “chỉ NLTT hiện đại” nằm trên hàng bộ lọc.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7280"/>
                </a:solidFill>
                <a:latin typeface="Segoe UI"/>
              </a:rPr>
              <a:t>Bật lên là thấy ngay phát hiện 3.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74519"/>
            <a:ext cx="5669280" cy="356616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38328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B7280"/>
                </a:solidFill>
                <a:latin typeface="Segoe UI"/>
              </a:rPr>
              <a:t>[ ảnh chụp dashboard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43600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74151"/>
                </a:solidFill>
                <a:latin typeface="Segoe UI"/>
              </a:rPr>
              <a:t>Mô hình sao 8 bảng · 73 phép đo DAX sinh từ một nguồn duy nhất · 175/175 truy vấn nghiệm thu đạt.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Nguồn: Our World in Data (Ember · BP) · ASEAN-10 · 2000–2021 · đã loại năm 2022 bị cắt cụt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5E00"/>
                </a:solidFill>
                <a:latin typeface="Segoe UI"/>
              </a:rPr>
              <a:t>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374151"/>
                </a:solidFill>
                <a:latin typeface="Segoe UI"/>
              </a:rPr>
              <a:t>Chuyển dịch là có thật, nhưng hẹp và lệch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1057839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74520"/>
            <a:ext cx="11057839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90000"/>
              </a:lnSpc>
            </a:pPr>
            <a:r>
              <a:rPr sz="1800" b="0" i="0">
                <a:solidFill>
                  <a:srgbClr val="374151"/>
                </a:solidFill>
                <a:latin typeface="Segoe UI"/>
              </a:rPr>
              <a:t>•   Quy mô gấp 3,98 lần — vị thế thế giới gần như đứng yên</a:t>
            </a:r>
          </a:p>
          <a:p>
            <a:pPr algn="l">
              <a:lnSpc>
                <a:spcPct val="190000"/>
              </a:lnSpc>
            </a:pPr>
            <a:r>
              <a:rPr sz="1800" b="0" i="0">
                <a:solidFill>
                  <a:srgbClr val="374151"/>
                </a:solidFill>
                <a:latin typeface="Segoe UI"/>
              </a:rPr>
              <a:t>•   Cơ cấu 2021 vẫn là thuỷ điện: 64,07% so với 14,75%</a:t>
            </a:r>
          </a:p>
          <a:p>
            <a:pPr algn="l">
              <a:lnSpc>
                <a:spcPct val="190000"/>
              </a:lnSpc>
            </a:pPr>
            <a:r>
              <a:rPr sz="1800" b="0" i="0">
                <a:solidFill>
                  <a:srgbClr val="374151"/>
                </a:solidFill>
                <a:latin typeface="Segoe UI"/>
              </a:rPr>
              <a:t>•   Ba nước giữ 92,25% lượng gió và mặt trời</a:t>
            </a:r>
          </a:p>
          <a:p>
            <a:pPr algn="l">
              <a:lnSpc>
                <a:spcPct val="190000"/>
              </a:lnSpc>
            </a:pPr>
            <a:r>
              <a:rPr sz="1800" b="0" i="0">
                <a:solidFill>
                  <a:srgbClr val="374151"/>
                </a:solidFill>
                <a:latin typeface="Segoe UI"/>
              </a:rPr>
              <a:t>•   Việt Nam: 65,90% sản lượng, 65,99% phần tăng thêm</a:t>
            </a:r>
          </a:p>
          <a:p>
            <a:pPr algn="l">
              <a:lnSpc>
                <a:spcPct val="190000"/>
              </a:lnSpc>
            </a:pPr>
            <a:r>
              <a:rPr sz="1800" b="0" i="0">
                <a:solidFill>
                  <a:srgbClr val="374151"/>
                </a:solidFill>
                <a:latin typeface="Segoe UI"/>
              </a:rPr>
              <a:t>•   Đổi thước đo là đổi thứ hạng — mọi so sánh phải nói rõ đo gì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Nguồn: Our World in Data (Ember · BP) · ASEAN-10 · 2000–2021 · đã loại năm 2022 bị cắt cụt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5E00"/>
                </a:solidFill>
                <a:latin typeface="Segoe UI"/>
              </a:rPr>
              <a:t>ĐỀ XUẤT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374151"/>
                </a:solidFill>
                <a:latin typeface="Segoe UI"/>
              </a:rPr>
              <a:t>Tám hướng cần cân nhắc — không phải tám việc phải làm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1057839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5254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55E00"/>
                </a:solidFill>
                <a:latin typeface="Segoe UI"/>
              </a:rPr>
              <a:t>CHO VIỆT NAM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94560"/>
            <a:ext cx="525459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5000"/>
              </a:lnSpc>
            </a:pPr>
            <a:r>
              <a:rPr sz="1450" b="0" i="0">
                <a:solidFill>
                  <a:srgbClr val="374151"/>
                </a:solidFill>
                <a:latin typeface="Segoe UI"/>
              </a:rPr>
              <a:t>•   Cân nhắc lưu trữ song song với công suất mới</a:t>
            </a:r>
          </a:p>
          <a:p>
            <a:pPr algn="l">
              <a:lnSpc>
                <a:spcPct val="165000"/>
              </a:lnSpc>
            </a:pPr>
            <a:r>
              <a:rPr sz="1450" b="0" i="0">
                <a:solidFill>
                  <a:srgbClr val="374151"/>
                </a:solidFill>
                <a:latin typeface="Segoe UI"/>
              </a:rPr>
              <a:t>•   Đặt chỉ tiêu theo tỷ trọng, không chỉ theo TWh</a:t>
            </a:r>
          </a:p>
          <a:p>
            <a:pPr algn="l">
              <a:lnSpc>
                <a:spcPct val="165000"/>
              </a:lnSpc>
            </a:pPr>
            <a:r>
              <a:rPr sz="1450" b="0" i="0">
                <a:solidFill>
                  <a:srgbClr val="374151"/>
                </a:solidFill>
                <a:latin typeface="Segoe UI"/>
              </a:rPr>
              <a:t>•   Tách mục tiêu sản lượng khỏi mục tiêu tỷ trọng</a:t>
            </a:r>
          </a:p>
          <a:p>
            <a:pPr algn="l">
              <a:lnSpc>
                <a:spcPct val="165000"/>
              </a:lnSpc>
            </a:pPr>
            <a:r>
              <a:rPr sz="1450" b="0" i="0">
                <a:solidFill>
                  <a:srgbClr val="374151"/>
                </a:solidFill>
                <a:latin typeface="Segoe UI"/>
              </a:rPr>
              <a:t>•   So chuẩn với nước cùng hạng thế giới, không chỉ ASEAN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1783080"/>
            <a:ext cx="5254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2B2"/>
                </a:solidFill>
                <a:latin typeface="Segoe UI"/>
              </a:rPr>
              <a:t>CHO KHU VỰC ASEAN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2194560"/>
            <a:ext cx="525459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5000"/>
              </a:lnSpc>
            </a:pPr>
            <a:r>
              <a:rPr sz="1450" b="0" i="0">
                <a:solidFill>
                  <a:srgbClr val="374151"/>
                </a:solidFill>
                <a:latin typeface="Segoe UI"/>
              </a:rPr>
              <a:t>•   Hợp tác khu vực thay cho nỗ lực đơn lẻ</a:t>
            </a:r>
          </a:p>
          <a:p>
            <a:pPr algn="l">
              <a:lnSpc>
                <a:spcPct val="165000"/>
              </a:lnSpc>
            </a:pPr>
            <a:r>
              <a:rPr sz="1450" b="0" i="0">
                <a:solidFill>
                  <a:srgbClr val="374151"/>
                </a:solidFill>
                <a:latin typeface="Segoe UI"/>
              </a:rPr>
              <a:t>•   Theo dõi mức tập trung như một chỉ báo</a:t>
            </a:r>
          </a:p>
          <a:p>
            <a:pPr algn="l">
              <a:lnSpc>
                <a:spcPct val="165000"/>
              </a:lnSpc>
            </a:pPr>
            <a:r>
              <a:rPr sz="1450" b="0" i="0">
                <a:solidFill>
                  <a:srgbClr val="374151"/>
                </a:solidFill>
                <a:latin typeface="Segoe UI"/>
              </a:rPr>
              <a:t>•   Đặt mục tiêu theo tỷ trọng toàn cầu, không chỉ nội khối</a:t>
            </a:r>
          </a:p>
          <a:p>
            <a:pPr algn="l">
              <a:lnSpc>
                <a:spcPct val="165000"/>
              </a:lnSpc>
            </a:pPr>
            <a:r>
              <a:rPr sz="1450" b="0" i="0">
                <a:solidFill>
                  <a:srgbClr val="374151"/>
                </a:solidFill>
                <a:latin typeface="Segoe UI"/>
              </a:rPr>
              <a:t>•   Đặt kỳ vọng vào nguồn nhân rộng được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120640"/>
            <a:ext cx="11057839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349240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6B7280"/>
                </a:solidFill>
                <a:latin typeface="Segoe UI"/>
              </a:rPr>
              <a:t>“Nên xem xét”, không phải “nên làm”.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6B7280"/>
                </a:solidFill>
                <a:latin typeface="Segoe UI"/>
              </a:rPr>
              <a:t>Dữ liệu này không có giá thành, chính sách hay phát thải để đánh giá khả thi.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Nguồn: Our World in Data (Ember · BP) · ASEAN-10 · 2000–2021 · đã loại năm 2022 bị cắt cụt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5E00"/>
                </a:solidFill>
                <a:latin typeface="Segoe UI"/>
              </a:rPr>
              <a:t>HƯỚNG ĐI TIẾP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374151"/>
                </a:solidFill>
                <a:latin typeface="Segoe UI"/>
              </a:rPr>
              <a:t>Câu trả lời hiện có, và dữ liệu còn thiếu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1057839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5254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2B2"/>
                </a:solidFill>
                <a:latin typeface="Segoe UI"/>
              </a:rPr>
              <a:t>DỮ LIỆU ĐÃ CHO THẤY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94560"/>
            <a:ext cx="525459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374151"/>
                </a:solidFill>
                <a:latin typeface="Segoe UI"/>
              </a:rPr>
              <a:t>•   Khu vực tăng mạnh về lượng nhưng chưa đổi vị thế toàn cầu.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374151"/>
                </a:solidFill>
                <a:latin typeface="Segoe UI"/>
              </a:rPr>
              <a:t>•   Cơ cấu nguồn của ASEAN năm 2021 vẫn là cơ cấu thuỷ điện.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374151"/>
                </a:solidFill>
                <a:latin typeface="Segoe UI"/>
              </a:rPr>
              <a:t>•   Xếp hạng khu vực phụ thuộc vào việc đo cái gì.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374151"/>
                </a:solidFill>
                <a:latin typeface="Segoe UI"/>
              </a:rPr>
              <a:t>•   Đà tăng gió và mặt trời tập trung ở một nước.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1783080"/>
            <a:ext cx="5254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55E00"/>
                </a:solidFill>
                <a:latin typeface="Segoe UI"/>
              </a:rPr>
              <a:t>CẦN GHÉP THÊM ĐỂ ĐI XA HƠN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2194560"/>
            <a:ext cx="525459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374151"/>
                </a:solidFill>
                <a:latin typeface="Segoe UI"/>
              </a:rPr>
              <a:t>•   Bảng giá thành và suất đầu tư theo công nghệ.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374151"/>
                </a:solidFill>
                <a:latin typeface="Segoe UI"/>
              </a:rPr>
              <a:t>•   Mốc thời gian chính sách và cơ chế giá từng nước.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374151"/>
                </a:solidFill>
                <a:latin typeface="Segoe UI"/>
              </a:rPr>
              <a:t>•   Công suất lắp đặt đầy đủ cho cả mười nước.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374151"/>
                </a:solidFill>
                <a:latin typeface="Segoe UI"/>
              </a:rPr>
              <a:t>•   Dân số và sản lượng điện để chuẩn hoá theo quy mô.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394960"/>
            <a:ext cx="11057839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669280"/>
            <a:ext cx="11057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6B7280"/>
                </a:solidFill>
                <a:latin typeface="Segoe UI"/>
              </a:rPr>
              <a:t>Chưa đủ dữ liệu để nói về chi phí, chính sách hay hiệu quả kỹ thuật.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Nguồn: Our World in Data (Ember · BP) · ASEAN-10 · 2000–2021 · đã loại năm 2022 bị cắt cụt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0"/>
            <a:ext cx="110578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374151"/>
                </a:solidFill>
                <a:latin typeface="Segoe UI"/>
              </a:rPr>
              <a:t>Xin cảm ơn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703320"/>
            <a:ext cx="2926080" cy="3810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0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D55E00"/>
                </a:solidFill>
                <a:latin typeface="Segoe UI"/>
              </a:rPr>
              <a:t>Câu hỏi?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120640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B7280"/>
                </a:solidFill>
                <a:latin typeface="Segoe UI"/>
              </a:rPr>
              <a:t>Our World in Data (Ember · BP) · 17 tệp CSV · ASEAN-10 · 2000–2021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B7280"/>
                </a:solidFill>
                <a:latin typeface="Segoe UI"/>
              </a:rPr>
              <a:t>Python · SQLite ·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Năng lượng tái tạo — Việt Nam và Đông Nam Á</dc:title>
  <dc:subject/>
  <dc:creator>Nguyễn Hồng Minh</dc:creator>
  <cp:keywords/>
  <dc:description>method_version=phase6_v1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